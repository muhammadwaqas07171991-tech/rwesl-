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63" r:id="rId5"/>
    <p:sldId id="262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3B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288" y="8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Rainfall (mm)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1788270212646463E-17"/>
                  <c:y val="1.733176838810639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660-442F-905C-FC79661CB34C}"/>
                </c:ext>
              </c:extLst>
            </c:dLbl>
            <c:dLbl>
              <c:idx val="1"/>
              <c:layout>
                <c:manualLayout>
                  <c:x val="0"/>
                  <c:y val="1.341940532081377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660-442F-905C-FC79661CB34C}"/>
                </c:ext>
              </c:extLst>
            </c:dLbl>
            <c:dLbl>
              <c:idx val="3"/>
              <c:layout>
                <c:manualLayout>
                  <c:x val="0"/>
                  <c:y val="1.59245499242172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660-442F-905C-FC79661CB34C}"/>
                </c:ext>
              </c:extLst>
            </c:dLbl>
            <c:dLbl>
              <c:idx val="4"/>
              <c:layout>
                <c:manualLayout>
                  <c:x val="0"/>
                  <c:y val="-1.396713615023474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660-442F-905C-FC79661CB34C}"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Gauge A</c:v>
                </c:pt>
                <c:pt idx="1">
                  <c:v>Gauge B</c:v>
                </c:pt>
                <c:pt idx="2">
                  <c:v>Gauge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80</c:v>
                </c:pt>
                <c:pt idx="2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E4-41B3-ACE6-B3BE3E6B61E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67"/>
        <c:overlap val="-43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span"/>
    <c:showDLblsOverMax val="1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3659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1016911"/>
            <a:ext cx="7315200" cy="90332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4D0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LECTURE 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ko-KR" sz="1000" b="1" kern="0" spc="300" dirty="0">
                <a:solidFill>
                  <a:srgbClr val="7030A0"/>
                </a:solidFill>
                <a:latin typeface="Times New Roman" panose="02020603050405020304" pitchFamily="18" charset="0"/>
                <a:ea typeface="Malgun Gothic"/>
                <a:cs typeface="Times New Roman" panose="02020603050405020304" pitchFamily="18" charset="0"/>
              </a:rPr>
              <a:t>제2강</a:t>
            </a:r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9326880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Precipitation Estimation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ko-KR" altLang="en-US" sz="2900" b="1" dirty="0">
                <a:solidFill>
                  <a:srgbClr val="7030A0"/>
                </a:solidFill>
                <a:latin typeface="Times New Roman" panose="02020603050405020304" pitchFamily="18" charset="0"/>
                <a:ea typeface="Malgun Gothic"/>
                <a:cs typeface="Times New Roman" panose="02020603050405020304" pitchFamily="18" charset="0"/>
              </a:rPr>
              <a:t>강수량 산정</a:t>
            </a:r>
            <a:endParaRPr lang="ko-KR" sz="2900" b="1" dirty="0">
              <a:solidFill>
                <a:srgbClr val="7030A0"/>
              </a:solidFill>
              <a:latin typeface="Times New Roman" panose="02020603050405020304" pitchFamily="18" charset="0"/>
              <a:ea typeface="Malgun Gothic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5522689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8FA3C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Basic Hydrology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ko-KR" sz="1000" dirty="0">
                <a:solidFill>
                  <a:srgbClr val="7030A0"/>
                </a:solidFill>
                <a:latin typeface="Times New Roman" panose="02020603050405020304" pitchFamily="18" charset="0"/>
                <a:ea typeface="Malgun Gothic"/>
                <a:cs typeface="Times New Roman" panose="02020603050405020304" pitchFamily="18" charset="0"/>
              </a:rPr>
              <a:t>기초 수문학</a:t>
            </a:r>
          </a:p>
        </p:txBody>
      </p:sp>
      <p:sp>
        <p:nvSpPr>
          <p:cNvPr id="8" name="Text 6"/>
          <p:cNvSpPr/>
          <p:nvPr/>
        </p:nvSpPr>
        <p:spPr>
          <a:xfrm>
            <a:off x="822960" y="5715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Dr. Muhammad </a:t>
            </a:r>
            <a:r>
              <a:rPr lang="en-US" sz="1300" dirty="0">
                <a:solidFill>
                  <a:srgbClr val="0E3B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Waqas</a:t>
            </a:r>
            <a:endParaRPr lang="en-US" sz="1300" dirty="0">
              <a:solidFill>
                <a:srgbClr val="0E3B4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B886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  CONCEPTUAL FOUNDATION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ko-KR" sz="900" b="1" kern="0" spc="200" dirty="0">
                <a:solidFill>
                  <a:srgbClr val="7030A0"/>
                </a:solidFill>
                <a:latin typeface="Times New Roman" panose="02020603050405020304" pitchFamily="18" charset="0"/>
                <a:ea typeface="Malgun Gothic"/>
                <a:cs typeface="Times New Roman" panose="02020603050405020304" pitchFamily="18" charset="0"/>
              </a:rPr>
              <a:t>1. 개념적 기초</a:t>
            </a:r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Averaging Rain Gauges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ko-KR" altLang="en-US" sz="1900" b="1" dirty="0">
                <a:latin typeface="Times New Roman" panose="02020603050405020304" pitchFamily="18" charset="0"/>
                <a:ea typeface="Malgun Gothic"/>
                <a:cs typeface="Times New Roman" panose="02020603050405020304" pitchFamily="18" charset="0"/>
              </a:rPr>
              <a:t>우량계 평균 구하기</a:t>
            </a:r>
            <a:endParaRPr lang="ko-KR" sz="1900" b="1" dirty="0">
              <a:latin typeface="Times New Roman" panose="02020603050405020304" pitchFamily="18" charset="0"/>
              <a:ea typeface="Malgun Gothic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24839" y="1710273"/>
            <a:ext cx="5913525" cy="33125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lnSpc>
                <a:spcPct val="1270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rain gauge only measures the rain at one point. </a:t>
            </a:r>
          </a:p>
          <a:p>
            <a:pPr marL="0" indent="0">
              <a:lnSpc>
                <a:spcPct val="127000"/>
              </a:lnSpc>
              <a:buNone/>
            </a:pPr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 estimate rainfall over a bigger area, we average several gauges together.</a:t>
            </a:r>
          </a:p>
          <a:p>
            <a:pPr marL="0" indent="0">
              <a:lnSpc>
                <a:spcPct val="1270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This works best when the gauges are spread out evenly and get a similar amount of rain. </a:t>
            </a:r>
          </a:p>
          <a:p>
            <a:pPr marL="0" indent="0">
              <a:lnSpc>
                <a:spcPct val="1270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If one gauge is far away or very different from the rest, a plain average can be misleading — </a:t>
            </a:r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 may need to give each gauge a different weight.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27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7000"/>
              </a:lnSpc>
              <a:buNone/>
            </a:pPr>
            <a:r>
              <a:rPr lang="ko-KR" sz="1600" dirty="0">
                <a:solidFill>
                  <a:srgbClr val="7030A0"/>
                </a:solidFill>
                <a:latin typeface="Times New Roman" panose="02020603050405020304" pitchFamily="18" charset="0"/>
                <a:ea typeface="Malgun Gothic"/>
                <a:cs typeface="Times New Roman" panose="02020603050405020304" pitchFamily="18" charset="0"/>
              </a:rPr>
              <a:t>우량계 하나는 한 지점의 강우량만 알려준다. </a:t>
            </a:r>
            <a:r>
              <a:rPr lang="ko-KR" sz="1600" b="1" dirty="0">
                <a:solidFill>
                  <a:srgbClr val="7030A0"/>
                </a:solidFill>
                <a:latin typeface="Times New Roman" panose="02020603050405020304" pitchFamily="18" charset="0"/>
                <a:ea typeface="Malgun Gothic"/>
                <a:cs typeface="Times New Roman" panose="02020603050405020304" pitchFamily="18" charset="0"/>
              </a:rPr>
              <a:t>더 넓은 지역의 강우량을 구할 때는 여러 우량계의 평균을 낸다.</a:t>
            </a:r>
            <a:endParaRPr lang="en-US" altLang="ko-KR" sz="1600" b="1" dirty="0">
              <a:solidFill>
                <a:srgbClr val="7030A0"/>
              </a:solidFill>
              <a:latin typeface="Times New Roman" panose="02020603050405020304" pitchFamily="18" charset="0"/>
              <a:ea typeface="Malgun Gothic"/>
              <a:cs typeface="Times New Roman" panose="02020603050405020304" pitchFamily="18" charset="0"/>
            </a:endParaRPr>
          </a:p>
          <a:p>
            <a:pPr marL="0" indent="0">
              <a:lnSpc>
                <a:spcPct val="127000"/>
              </a:lnSpc>
              <a:buNone/>
            </a:pPr>
            <a:r>
              <a:rPr lang="ko-KR" sz="1600" dirty="0">
                <a:solidFill>
                  <a:srgbClr val="7030A0"/>
                </a:solidFill>
                <a:latin typeface="Times New Roman" panose="02020603050405020304" pitchFamily="18" charset="0"/>
                <a:ea typeface="Malgun Gothic"/>
                <a:cs typeface="Times New Roman" panose="02020603050405020304" pitchFamily="18" charset="0"/>
              </a:rPr>
              <a:t> 이 방법은 우량계가 고르게 퍼져 있고 비슷한 양의 비가 내릴 때 가장 잘 맞는다. 우량계 하나가 멀리 떨어져 있거나 강우량이 많이 다르면 단순 평균은 오해를 부를 수 있어, 각 우량계에 다른 가중치를 줘야 할 수도 있다.</a:t>
            </a:r>
          </a:p>
        </p:txBody>
      </p:sp>
      <p:sp>
        <p:nvSpPr>
          <p:cNvPr id="5" name="Shape 3"/>
          <p:cNvSpPr/>
          <p:nvPr/>
        </p:nvSpPr>
        <p:spPr>
          <a:xfrm>
            <a:off x="824577" y="5378753"/>
            <a:ext cx="5349240" cy="1192066"/>
          </a:xfrm>
          <a:prstGeom prst="roundRect">
            <a:avLst>
              <a:gd name="adj" fmla="val 7273"/>
            </a:avLst>
          </a:prstGeom>
          <a:solidFill>
            <a:srgbClr val="F7F9FC"/>
          </a:solidFill>
          <a:ln w="12700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49116" y="5458561"/>
            <a:ext cx="4892040" cy="4693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3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GOVERNING PRINCIPLE — EQUATION 2.1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ko-KR" sz="800" b="1" kern="0" spc="130" dirty="0">
                <a:solidFill>
                  <a:srgbClr val="7030A0"/>
                </a:solidFill>
                <a:latin typeface="Times New Roman" panose="02020603050405020304" pitchFamily="18" charset="0"/>
                <a:ea typeface="Malgun Gothic"/>
                <a:cs typeface="Times New Roman" panose="02020603050405020304" pitchFamily="18" charset="0"/>
              </a:rPr>
              <a:t>지배 원리 — 식 2.1</a:t>
            </a:r>
          </a:p>
        </p:txBody>
      </p:sp>
      <p:sp>
        <p:nvSpPr>
          <p:cNvPr id="7" name="Text 5"/>
          <p:cNvSpPr/>
          <p:nvPr/>
        </p:nvSpPr>
        <p:spPr>
          <a:xfrm>
            <a:off x="1053177" y="5713559"/>
            <a:ext cx="4892040" cy="938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0" i="0" dirty="0">
                <a:solidFill>
                  <a:srgbClr val="00B0F0"/>
                </a:solidFill>
                <a:latin typeface="Cambria Math"/>
              </a:rPr>
              <a:t>Pm = ΣP ÷ n</a:t>
            </a:r>
            <a:endParaRPr lang="en-US" sz="2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735006" y="5498765"/>
            <a:ext cx="5029200" cy="57071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Figure 2.1 — Three rain gauges collecting different amounts of rain.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1277295" y="6462913"/>
            <a:ext cx="457200" cy="2853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Three rain gauges collecting different amounts of rain">
            <a:extLst>
              <a:ext uri="{FF2B5EF4-FFF2-40B4-BE49-F238E27FC236}">
                <a16:creationId xmlns:a16="http://schemas.microsoft.com/office/drawing/2014/main" id="{B0FB4384-BE09-56B3-FB1D-DE9C618A5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527" y="585503"/>
            <a:ext cx="5985115" cy="51280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B886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  CONCEPTUAL FOUNDATION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ko-KR" sz="900" b="1" kern="0" spc="200" dirty="0">
                <a:solidFill>
                  <a:srgbClr val="7030A0"/>
                </a:solidFill>
                <a:latin typeface="Times New Roman" panose="02020603050405020304" pitchFamily="18" charset="0"/>
                <a:ea typeface="Malgun Gothic"/>
                <a:cs typeface="Times New Roman" panose="02020603050405020304" pitchFamily="18" charset="0"/>
              </a:rPr>
              <a:t>1. 개념적 기초</a:t>
            </a:r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B2A4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Weighting Gauges by Area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ko-KR" sz="2100" b="1" dirty="0">
                <a:solidFill>
                  <a:srgbClr val="7030A0"/>
                </a:solidFill>
                <a:latin typeface="Times New Roman" panose="02020603050405020304" pitchFamily="18" charset="0"/>
                <a:ea typeface="Malgun Gothic"/>
                <a:cs typeface="Times New Roman" panose="02020603050405020304" pitchFamily="18" charset="0"/>
              </a:rPr>
              <a:t>면적으로 가중하기</a:t>
            </a:r>
          </a:p>
        </p:txBody>
      </p:sp>
      <p:sp>
        <p:nvSpPr>
          <p:cNvPr id="4" name="Shape 2"/>
          <p:cNvSpPr/>
          <p:nvPr/>
        </p:nvSpPr>
        <p:spPr>
          <a:xfrm>
            <a:off x="6537960" y="146304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0E3B47"/>
          </a:solidFill>
          <a:ln/>
        </p:spPr>
        <p:txBody>
          <a:bodyPr/>
          <a:lstStyle/>
          <a:p>
            <a:endParaRPr lang="en-US" dirty="0">
              <a:solidFill>
                <a:srgbClr val="0E3B4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766560" y="1591056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F4D0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— EQUATION 2.2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ko-KR" sz="900" b="1" kern="0" spc="130" dirty="0">
                <a:solidFill>
                  <a:srgbClr val="F4D06F"/>
                </a:solidFill>
                <a:latin typeface="Times New Roman" panose="02020603050405020304" pitchFamily="18" charset="0"/>
                <a:ea typeface="Malgun Gothic"/>
                <a:cs typeface="Times New Roman" panose="02020603050405020304" pitchFamily="18" charset="0"/>
              </a:rPr>
              <a:t>— 식 2.2</a:t>
            </a:r>
          </a:p>
        </p:txBody>
      </p:sp>
      <p:sp>
        <p:nvSpPr>
          <p:cNvPr id="6" name="Text 4"/>
          <p:cNvSpPr/>
          <p:nvPr/>
        </p:nvSpPr>
        <p:spPr>
          <a:xfrm>
            <a:off x="6766560" y="1865376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0" i="0">
                <a:solidFill>
                  <a:srgbClr val="FFFFFF"/>
                </a:solidFill>
                <a:latin typeface="Cambria Math"/>
              </a:rPr>
              <a:t>Pw = ΣAP ÷ ΣA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537960" y="260604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537960" y="2898647"/>
            <a:ext cx="807700" cy="12881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Pw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60920" y="2898647"/>
            <a:ext cx="4442350" cy="128815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Area-weighted average rainfall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ko-KR" sz="1600" dirty="0">
                <a:solidFill>
                  <a:srgbClr val="7030A0"/>
                </a:solidFill>
                <a:latin typeface="Times New Roman" panose="02020603050405020304" pitchFamily="18" charset="0"/>
                <a:ea typeface="Malgun Gothic"/>
                <a:cs typeface="Times New Roman" panose="02020603050405020304" pitchFamily="18" charset="0"/>
              </a:rPr>
              <a:t>면적가중평균 강우량</a:t>
            </a:r>
          </a:p>
        </p:txBody>
      </p:sp>
      <p:sp>
        <p:nvSpPr>
          <p:cNvPr id="10" name="Text 8"/>
          <p:cNvSpPr/>
          <p:nvPr/>
        </p:nvSpPr>
        <p:spPr>
          <a:xfrm>
            <a:off x="6537960" y="3650929"/>
            <a:ext cx="807700" cy="901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60920" y="3628623"/>
            <a:ext cx="4442350" cy="83612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Area one gauge represents (km²)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ko-KR" sz="1400" dirty="0">
                <a:solidFill>
                  <a:srgbClr val="7030A0"/>
                </a:solidFill>
                <a:latin typeface="Times New Roman" panose="02020603050405020304" pitchFamily="18" charset="0"/>
                <a:ea typeface="Malgun Gothic"/>
                <a:cs typeface="Times New Roman" panose="02020603050405020304" pitchFamily="18" charset="0"/>
              </a:rPr>
              <a:t>우량계가 대표하는 면적 (km²)</a:t>
            </a:r>
          </a:p>
        </p:txBody>
      </p:sp>
      <p:sp>
        <p:nvSpPr>
          <p:cNvPr id="12" name="Text 10"/>
          <p:cNvSpPr/>
          <p:nvPr/>
        </p:nvSpPr>
        <p:spPr>
          <a:xfrm>
            <a:off x="6537960" y="4293770"/>
            <a:ext cx="807700" cy="624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45660" y="4228500"/>
            <a:ext cx="4442350" cy="8113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Rainfall measured at that gauge (mm)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ko-KR" sz="1600" dirty="0">
                <a:solidFill>
                  <a:srgbClr val="7030A0"/>
                </a:solidFill>
                <a:latin typeface="Times New Roman" panose="02020603050405020304" pitchFamily="18" charset="0"/>
                <a:ea typeface="Malgun Gothic"/>
                <a:cs typeface="Times New Roman" panose="02020603050405020304" pitchFamily="18" charset="0"/>
              </a:rPr>
              <a:t>그 우량계에서 측정된 강우량 (mm)</a:t>
            </a:r>
          </a:p>
        </p:txBody>
      </p:sp>
      <p:sp>
        <p:nvSpPr>
          <p:cNvPr id="14" name="Text 12"/>
          <p:cNvSpPr/>
          <p:nvPr/>
        </p:nvSpPr>
        <p:spPr>
          <a:xfrm>
            <a:off x="6522700" y="4931089"/>
            <a:ext cx="807700" cy="6389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60920" y="4931089"/>
            <a:ext cx="4442350" cy="8113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Area × rainfall, for one gauge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ko-KR" sz="1400" dirty="0">
                <a:solidFill>
                  <a:srgbClr val="7030A0"/>
                </a:solidFill>
                <a:latin typeface="Times New Roman" panose="02020603050405020304" pitchFamily="18" charset="0"/>
                <a:ea typeface="Malgun Gothic"/>
                <a:cs typeface="Times New Roman" panose="02020603050405020304" pitchFamily="18" charset="0"/>
              </a:rPr>
              <a:t>한 우량계의 면적 × 강우량</a:t>
            </a:r>
          </a:p>
        </p:txBody>
      </p:sp>
      <p:sp>
        <p:nvSpPr>
          <p:cNvPr id="16" name="Text 14"/>
          <p:cNvSpPr/>
          <p:nvPr/>
        </p:nvSpPr>
        <p:spPr>
          <a:xfrm>
            <a:off x="6522722" y="5676987"/>
            <a:ext cx="807700" cy="5566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ΣA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45660" y="5742431"/>
            <a:ext cx="4442350" cy="91324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Total area of the whole catchment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ko-KR" sz="1200" dirty="0">
                <a:solidFill>
                  <a:srgbClr val="7030A0"/>
                </a:solidFill>
                <a:latin typeface="Times New Roman" panose="02020603050405020304" pitchFamily="18" charset="0"/>
                <a:ea typeface="Malgun Gothic"/>
                <a:cs typeface="Times New Roman" panose="02020603050405020304" pitchFamily="18" charset="0"/>
              </a:rPr>
              <a:t>유역 전체 면적</a:t>
            </a:r>
          </a:p>
        </p:txBody>
      </p:sp>
      <p:pic>
        <p:nvPicPr>
          <p:cNvPr id="19" name="Image 0" descr="Catchment divided into three areas, one per gauge"/>
          <p:cNvPicPr>
            <a:picLocks noChangeAspect="1"/>
          </p:cNvPicPr>
          <p:nvPr/>
        </p:nvPicPr>
        <p:blipFill>
          <a:blip r:embed="rId3"/>
          <a:srcRect l="4578" t="11023" r="4664" b="11995"/>
          <a:stretch>
            <a:fillRect/>
          </a:stretch>
        </p:blipFill>
        <p:spPr>
          <a:xfrm>
            <a:off x="388730" y="1865376"/>
            <a:ext cx="5784222" cy="39250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40080" y="6107039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Figure 2.2 — Gauge A covers more area than B or C.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ko-KR" sz="1400" dirty="0">
                <a:solidFill>
                  <a:srgbClr val="7030A0"/>
                </a:solidFill>
                <a:latin typeface="Times New Roman" panose="02020603050405020304" pitchFamily="18" charset="0"/>
                <a:ea typeface="Malgun Gothic"/>
                <a:cs typeface="Times New Roman" panose="02020603050405020304" pitchFamily="18" charset="0"/>
              </a:rPr>
              <a:t>그림 2.2 — A 지점은 B, C보다 더 넓은 면적을 대표한다.</a:t>
            </a:r>
          </a:p>
        </p:txBody>
      </p:sp>
      <p:sp>
        <p:nvSpPr>
          <p:cNvPr id="22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2.WORKED EXAMPLE</a:t>
            </a:r>
            <a:endParaRPr lang="en-US" sz="1250" dirty="0"/>
          </a:p>
          <a:p>
            <a:pPr marL="0" indent="0">
              <a:buNone/>
            </a:pPr>
            <a:r>
              <a:rPr lang="ko-KR" sz="900" b="1" kern="0" spc="200" dirty="0">
                <a:solidFill>
                  <a:srgbClr val="7030A0"/>
                </a:solidFill>
                <a:latin typeface="Malgun Gothic"/>
                <a:ea typeface="Malgun Gothic"/>
                <a:cs typeface="Malgun Gothic"/>
              </a:rPr>
              <a:t>예제 풀이</a:t>
            </a:r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Computing an Area-Weighted Average</a:t>
            </a:r>
            <a:endParaRPr lang="en-US" sz="2600" dirty="0"/>
          </a:p>
          <a:p>
            <a:pPr marL="0" indent="0">
              <a:lnSpc>
                <a:spcPct val="105000"/>
              </a:lnSpc>
              <a:buNone/>
            </a:pPr>
            <a:r>
              <a:rPr lang="ko-KR" sz="2000" b="1" dirty="0">
                <a:solidFill>
                  <a:srgbClr val="1B2A4A"/>
                </a:solidFill>
                <a:latin typeface="Malgun Gothic"/>
                <a:ea typeface="Malgun Gothic"/>
                <a:cs typeface="Malgun Gothic"/>
              </a:rPr>
              <a:t>면적가중평균 계산하기</a:t>
            </a:r>
          </a:p>
        </p:txBody>
      </p:sp>
      <p:sp>
        <p:nvSpPr>
          <p:cNvPr id="4" name="Shape 2"/>
          <p:cNvSpPr/>
          <p:nvPr/>
        </p:nvSpPr>
        <p:spPr>
          <a:xfrm>
            <a:off x="617220" y="1683785"/>
            <a:ext cx="5894416" cy="21388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 w="12700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5" name="Text 3"/>
          <p:cNvSpPr/>
          <p:nvPr/>
        </p:nvSpPr>
        <p:spPr>
          <a:xfrm>
            <a:off x="931339" y="1748938"/>
            <a:ext cx="4692221" cy="398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</a:t>
            </a:r>
            <a:endParaRPr lang="en-US" sz="1000" dirty="0"/>
          </a:p>
          <a:p>
            <a:pPr marL="0" indent="0">
              <a:buNone/>
            </a:pPr>
            <a:r>
              <a:rPr lang="ko-KR" sz="900" b="1" kern="0" spc="150" dirty="0">
                <a:solidFill>
                  <a:srgbClr val="7030A0"/>
                </a:solidFill>
                <a:latin typeface="Malgun Gothic"/>
                <a:ea typeface="Malgun Gothic"/>
                <a:cs typeface="Malgun Gothic"/>
              </a:rPr>
              <a:t>주어진 조건</a:t>
            </a:r>
          </a:p>
        </p:txBody>
      </p:sp>
      <p:sp>
        <p:nvSpPr>
          <p:cNvPr id="6" name="Text 4"/>
          <p:cNvSpPr/>
          <p:nvPr/>
        </p:nvSpPr>
        <p:spPr>
          <a:xfrm>
            <a:off x="617220" y="2150578"/>
            <a:ext cx="5894415" cy="173719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A: Area=40 km², P=100 mm    B: Area=30 km², P=80 mm    C: Area=30 km², P=120 mm</a:t>
            </a:r>
            <a:endParaRPr lang="en-US" sz="2400" dirty="0"/>
          </a:p>
          <a:p>
            <a:pPr marL="0" indent="0">
              <a:lnSpc>
                <a:spcPct val="115000"/>
              </a:lnSpc>
              <a:buNone/>
            </a:pPr>
            <a:r>
              <a:rPr lang="ko-KR" sz="1200" dirty="0">
                <a:latin typeface="Malgun Gothic"/>
                <a:ea typeface="Malgun Gothic"/>
                <a:cs typeface="Malgun Gothic"/>
              </a:rPr>
              <a:t>A 지점: 면적=40km², P=100mm    B 지점: 면적=30km², P=80mm    C 지점: 면적=30km², P=120mm</a:t>
            </a:r>
          </a:p>
        </p:txBody>
      </p:sp>
      <p:sp>
        <p:nvSpPr>
          <p:cNvPr id="7" name="Text 5"/>
          <p:cNvSpPr/>
          <p:nvPr/>
        </p:nvSpPr>
        <p:spPr>
          <a:xfrm>
            <a:off x="320040" y="3914222"/>
            <a:ext cx="5349240" cy="51738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00" b="1" kern="0" spc="11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APPLY EQUATION 2.2</a:t>
            </a:r>
            <a:endParaRPr lang="en-US" sz="700" dirty="0"/>
          </a:p>
          <a:p>
            <a:pPr marL="0" indent="0">
              <a:buNone/>
            </a:pPr>
            <a:r>
              <a:rPr lang="ko-KR" sz="700" b="1" kern="0" spc="110" dirty="0">
                <a:solidFill>
                  <a:srgbClr val="7030A0"/>
                </a:solidFill>
                <a:latin typeface="Malgun Gothic"/>
                <a:ea typeface="Malgun Gothic"/>
                <a:cs typeface="Malgun Gothic"/>
              </a:rPr>
              <a:t>식 2.2 적용</a:t>
            </a:r>
          </a:p>
        </p:txBody>
      </p:sp>
      <p:sp>
        <p:nvSpPr>
          <p:cNvPr id="8" name="Text 6"/>
          <p:cNvSpPr/>
          <p:nvPr/>
        </p:nvSpPr>
        <p:spPr>
          <a:xfrm>
            <a:off x="274320" y="4331692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0" i="0" dirty="0">
                <a:solidFill>
                  <a:schemeClr val="tx1"/>
                </a:solidFill>
                <a:latin typeface="Cambria Math"/>
              </a:rPr>
              <a:t>Pw = ΣAP ÷ ΣA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252152" y="4827935"/>
            <a:ext cx="78296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0" i="0" dirty="0">
                <a:solidFill>
                  <a:schemeClr val="tx1"/>
                </a:solidFill>
                <a:latin typeface="Cambria Math"/>
              </a:rPr>
              <a:t>Pw = (40×100+30×80+30×120) ÷ 100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505" y="5549971"/>
            <a:ext cx="5349240" cy="1155487"/>
          </a:xfrm>
          <a:prstGeom prst="roundRect">
            <a:avLst>
              <a:gd name="adj" fmla="val 10000"/>
            </a:avLst>
          </a:prstGeom>
          <a:solidFill>
            <a:srgbClr val="0E3B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5733165"/>
            <a:ext cx="2743200" cy="43367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4D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  <a:p>
            <a:pPr marL="0" indent="0">
              <a:buNone/>
            </a:pPr>
            <a:r>
              <a:rPr lang="ko-KR" sz="900" b="1" kern="0" spc="150" dirty="0">
                <a:solidFill>
                  <a:srgbClr val="7030A0"/>
                </a:solidFill>
                <a:latin typeface="Malgun Gothic"/>
                <a:ea typeface="Malgun Gothic"/>
                <a:cs typeface="Malgun Gothic"/>
              </a:rPr>
              <a:t>답</a:t>
            </a:r>
          </a:p>
        </p:txBody>
      </p:sp>
      <p:sp>
        <p:nvSpPr>
          <p:cNvPr id="13" name="Text 11"/>
          <p:cNvSpPr/>
          <p:nvPr/>
        </p:nvSpPr>
        <p:spPr>
          <a:xfrm>
            <a:off x="685800" y="630021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0" i="0" dirty="0">
                <a:solidFill>
                  <a:srgbClr val="FFFFFF"/>
                </a:solidFill>
                <a:latin typeface="Cambria Math"/>
              </a:rPr>
              <a:t>Pw = 100 mm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645286" y="5376731"/>
            <a:ext cx="3053194" cy="70489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Figure 2.3 — Rainfall at each gauge and the area-weighted average.</a:t>
            </a:r>
            <a:endParaRPr lang="en-US" sz="1150" dirty="0"/>
          </a:p>
          <a:p>
            <a:pPr marL="0" indent="0">
              <a:buNone/>
            </a:pPr>
            <a:r>
              <a:rPr lang="ko-KR" sz="900" b="1" dirty="0">
                <a:solidFill>
                  <a:srgbClr val="7030A0"/>
                </a:solidFill>
                <a:latin typeface="Malgun Gothic"/>
                <a:ea typeface="Malgun Gothic"/>
                <a:cs typeface="Malgun Gothic"/>
              </a:rPr>
              <a:t>그림 2.3 — 각 지점의 강우량과 면적가중평균.</a:t>
            </a:r>
          </a:p>
        </p:txBody>
      </p:sp>
      <p:graphicFrame>
        <p:nvGraphicFramePr>
          <p:cNvPr id="15" name="Chart 0"/>
          <p:cNvGraphicFramePr/>
          <p:nvPr>
            <p:extLst>
              <p:ext uri="{D42A27DB-BD31-4B8C-83A1-F6EECF244321}">
                <p14:modId xmlns:p14="http://schemas.microsoft.com/office/powerpoint/2010/main" val="448696795"/>
              </p:ext>
            </p:extLst>
          </p:nvPr>
        </p:nvGraphicFramePr>
        <p:xfrm>
          <a:off x="6668628" y="2130612"/>
          <a:ext cx="4937761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67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4.APPLIED EXERCISE</a:t>
            </a:r>
            <a:endParaRPr lang="en-US" sz="1250" dirty="0"/>
          </a:p>
          <a:p>
            <a:pPr marL="0" indent="0">
              <a:buNone/>
            </a:pPr>
            <a:r>
              <a:rPr lang="ko-KR" sz="900" b="1" kern="0" spc="200" dirty="0">
                <a:solidFill>
                  <a:srgbClr val="7030A0"/>
                </a:solidFill>
                <a:latin typeface="Malgun Gothic"/>
                <a:ea typeface="Malgun Gothic"/>
                <a:cs typeface="Malgun Gothic"/>
              </a:rPr>
              <a:t>응용 실습</a:t>
            </a:r>
          </a:p>
        </p:txBody>
      </p:sp>
      <p:sp>
        <p:nvSpPr>
          <p:cNvPr id="3" name="Text 1"/>
          <p:cNvSpPr/>
          <p:nvPr/>
        </p:nvSpPr>
        <p:spPr>
          <a:xfrm>
            <a:off x="438670" y="6858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Constructing the Week 2 Workbook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ko-KR" sz="2100" b="1" dirty="0">
                <a:solidFill>
                  <a:srgbClr val="7030A0"/>
                </a:solidFill>
                <a:latin typeface="Times New Roman" panose="02020603050405020304" pitchFamily="18" charset="0"/>
                <a:ea typeface="Malgun Gothic"/>
                <a:cs typeface="Times New Roman" panose="02020603050405020304" pitchFamily="18" charset="0"/>
              </a:rPr>
              <a:t>2주차 워크북 작성</a:t>
            </a:r>
          </a:p>
        </p:txBody>
      </p:sp>
      <p:sp>
        <p:nvSpPr>
          <p:cNvPr id="4" name="Text 2"/>
          <p:cNvSpPr/>
          <p:nvPr/>
        </p:nvSpPr>
        <p:spPr>
          <a:xfrm>
            <a:off x="438670" y="1417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Implement the framework above in a spreadsheet. </a:t>
            </a:r>
            <a:r>
              <a:rPr lang="ko-KR" sz="1000" dirty="0">
                <a:solidFill>
                  <a:srgbClr val="7030A0"/>
                </a:solidFill>
                <a:latin typeface="Times New Roman" panose="02020603050405020304" pitchFamily="18" charset="0"/>
                <a:ea typeface="Malgun Gothic"/>
                <a:cs typeface="Times New Roman" panose="02020603050405020304" pitchFamily="18" charset="0"/>
              </a:rPr>
              <a:t>위 프레임워크를 스프레드시트로 구현한다. 수록되어 있다.</a:t>
            </a:r>
          </a:p>
        </p:txBody>
      </p:sp>
      <p:sp>
        <p:nvSpPr>
          <p:cNvPr id="5" name="Shape 3"/>
          <p:cNvSpPr/>
          <p:nvPr/>
        </p:nvSpPr>
        <p:spPr>
          <a:xfrm>
            <a:off x="446876" y="272343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46876" y="27314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86956" y="2646873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Average calc.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ko-KR" sz="1200" b="1" dirty="0">
                <a:solidFill>
                  <a:srgbClr val="7030A0"/>
                </a:solidFill>
                <a:latin typeface="Times New Roman" panose="02020603050405020304" pitchFamily="18" charset="0"/>
                <a:ea typeface="Malgun Gothic"/>
                <a:cs typeface="Times New Roman" panose="02020603050405020304" pitchFamily="18" charset="0"/>
              </a:rPr>
              <a:t>평균 계산기</a:t>
            </a:r>
          </a:p>
        </p:txBody>
      </p:sp>
      <p:sp>
        <p:nvSpPr>
          <p:cNvPr id="8" name="Text 6"/>
          <p:cNvSpPr/>
          <p:nvPr/>
        </p:nvSpPr>
        <p:spPr>
          <a:xfrm>
            <a:off x="3269673" y="2315863"/>
            <a:ext cx="8183417" cy="144488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Build and check a simple average calculator using the numbers 10, 20, 30 → average = 20.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ko-KR" sz="1400" dirty="0">
                <a:solidFill>
                  <a:srgbClr val="7030A0"/>
                </a:solidFill>
                <a:latin typeface="Times New Roman" panose="02020603050405020304" pitchFamily="18" charset="0"/>
                <a:ea typeface="Malgun Gothic"/>
                <a:cs typeface="Times New Roman" panose="02020603050405020304" pitchFamily="18" charset="0"/>
              </a:rPr>
              <a:t>10, 20, 30 → 평균 = 20 을 이용해 단순평균 계산기를 만들고 확인한다.</a:t>
            </a:r>
          </a:p>
        </p:txBody>
      </p:sp>
      <p:sp>
        <p:nvSpPr>
          <p:cNvPr id="9" name="Shape 7"/>
          <p:cNvSpPr/>
          <p:nvPr/>
        </p:nvSpPr>
        <p:spPr>
          <a:xfrm>
            <a:off x="438670" y="3983833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38670" y="396788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2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78750" y="3938113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Weighted table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ko-KR" sz="1200" b="1" dirty="0">
                <a:solidFill>
                  <a:srgbClr val="7030A0"/>
                </a:solidFill>
                <a:latin typeface="Times New Roman" panose="02020603050405020304" pitchFamily="18" charset="0"/>
                <a:ea typeface="Malgun Gothic"/>
                <a:cs typeface="Times New Roman" panose="02020603050405020304" pitchFamily="18" charset="0"/>
              </a:rPr>
              <a:t>가중 강우량 표</a:t>
            </a:r>
          </a:p>
        </p:txBody>
      </p:sp>
      <p:sp>
        <p:nvSpPr>
          <p:cNvPr id="12" name="Text 10"/>
          <p:cNvSpPr/>
          <p:nvPr/>
        </p:nvSpPr>
        <p:spPr>
          <a:xfrm>
            <a:off x="3362036" y="3938112"/>
            <a:ext cx="8391294" cy="1021417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Build a table with the three gauges above (area, rainfall, area×rainfall) and compute the area-weighted average, plus totals.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ko-KR" sz="1400" dirty="0">
                <a:solidFill>
                  <a:srgbClr val="7030A0"/>
                </a:solidFill>
                <a:latin typeface="Times New Roman" panose="02020603050405020304" pitchFamily="18" charset="0"/>
                <a:ea typeface="Malgun Gothic"/>
                <a:cs typeface="Times New Roman" panose="02020603050405020304" pitchFamily="18" charset="0"/>
              </a:rPr>
              <a:t>위 세 지점의 면적, 강우량, 면적×강우량을 포함한 표를 만들고 면적가중평균과 합계를 계산한다.</a:t>
            </a:r>
          </a:p>
        </p:txBody>
      </p:sp>
      <p:sp>
        <p:nvSpPr>
          <p:cNvPr id="13" name="Shape 11"/>
          <p:cNvSpPr/>
          <p:nvPr/>
        </p:nvSpPr>
        <p:spPr>
          <a:xfrm>
            <a:off x="438670" y="535543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38670" y="5355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3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78750" y="530971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Supporting chart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ko-KR" sz="1200" b="1" dirty="0">
                <a:solidFill>
                  <a:srgbClr val="7030A0"/>
                </a:solidFill>
                <a:latin typeface="Times New Roman" panose="02020603050405020304" pitchFamily="18" charset="0"/>
                <a:ea typeface="Malgun Gothic"/>
                <a:cs typeface="Times New Roman" panose="02020603050405020304" pitchFamily="18" charset="0"/>
              </a:rPr>
              <a:t>보조 차트</a:t>
            </a:r>
          </a:p>
        </p:txBody>
      </p:sp>
      <p:sp>
        <p:nvSpPr>
          <p:cNvPr id="16" name="Text 14"/>
          <p:cNvSpPr/>
          <p:nvPr/>
        </p:nvSpPr>
        <p:spPr>
          <a:xfrm>
            <a:off x="3491345" y="5203891"/>
            <a:ext cx="8478981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Make a bar chart comparing the rainfall at gauges A, B, and C.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ko-KR" sz="1400" dirty="0">
                <a:solidFill>
                  <a:srgbClr val="7030A0"/>
                </a:solidFill>
                <a:latin typeface="Times New Roman" panose="02020603050405020304" pitchFamily="18" charset="0"/>
                <a:ea typeface="Malgun Gothic"/>
                <a:cs typeface="Times New Roman" panose="02020603050405020304" pitchFamily="18" charset="0"/>
              </a:rPr>
              <a:t>A, B, C 지점의 강우량을 비교하는 막대 차트를 작성한다.</a:t>
            </a:r>
          </a:p>
        </p:txBody>
      </p:sp>
      <p:sp>
        <p:nvSpPr>
          <p:cNvPr id="25" name="Text 23"/>
          <p:cNvSpPr/>
          <p:nvPr/>
        </p:nvSpPr>
        <p:spPr>
          <a:xfrm>
            <a:off x="1107588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394</TotalTime>
  <Words>590</Words>
  <Application>Microsoft Office PowerPoint</Application>
  <PresentationFormat>Widescreen</PresentationFormat>
  <Paragraphs>94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Malgun Gothic</vt:lpstr>
      <vt:lpstr>Arial</vt:lpstr>
      <vt:lpstr>Calibri</vt:lpstr>
      <vt:lpstr>Cambria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WAQAS</cp:lastModifiedBy>
  <cp:revision>20</cp:revision>
  <dcterms:created xsi:type="dcterms:W3CDTF">2026-08-22T08:41:29Z</dcterms:created>
  <dcterms:modified xsi:type="dcterms:W3CDTF">2026-09-21T01:18:13Z</dcterms:modified>
</cp:coreProperties>
</file>