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8" d="100"/>
          <a:sy n="158" d="100"/>
        </p:scale>
        <p:origin x="296"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6614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storm is heaviest at its core. If we average over a bigger area we include the lighter edges, so the average falls. DAD analysis gives the maximum average depth for any area and any duration. We will do it in three steps with one small example.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ring is a zone with its own gauge. Areas are 100, 200 and 300 km². The table shows how much rain each gauge has collected so far, hour by hour. Ask students: which zone is wettest? (Zone I, 40 mm.)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hour 6, take the rain in each zone and weight it by area. The more zones we include, the lower the average, because we add lighter rain. Repeat this for every hour (Excel does it: column ②).</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a 2-hour duration we look at every 2-hour window. From hour 1 to 3 Zone I gains 30 minus 5 = 25 mm, the biggest. So the 2-hour maximum for Zone I is 25 mm. Do the same for 4 h and 6 h, and for I+II and I+II+III.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table is the DAD result and the chart is the DAD curve. To use it: choose a duration and an area, read the depth. Example: 4 hours over 300 km² gives 30 mm. Then open Excel, show the Example sheet, and give the Exercise sheet for practice.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65760"/>
          </a:xfrm>
          <a:prstGeom prst="rect">
            <a:avLst/>
          </a:prstGeom>
          <a:noFill/>
          <a:ln/>
        </p:spPr>
        <p:txBody>
          <a:bodyPr wrap="square" lIns="0" tIns="0" rIns="0" bIns="0" rtlCol="0" anchor="t"/>
          <a:lstStyle/>
          <a:p>
            <a:pPr marL="0" indent="0" algn="l">
              <a:buNone/>
            </a:pPr>
            <a:r>
              <a:rPr lang="en-US" sz="1500" b="1" dirty="0">
                <a:solidFill>
                  <a:srgbClr val="D98E04"/>
                </a:solidFill>
                <a:latin typeface="Calibri" pitchFamily="34" charset="0"/>
                <a:ea typeface="Calibri" pitchFamily="34" charset="-122"/>
                <a:cs typeface="Calibri" pitchFamily="34" charset="-120"/>
              </a:rPr>
              <a:t>BASIC HYDROLOGY · LECTURE 4</a:t>
            </a:r>
            <a:endParaRPr lang="en-US" sz="1500" dirty="0"/>
          </a:p>
        </p:txBody>
      </p:sp>
      <p:sp>
        <p:nvSpPr>
          <p:cNvPr id="3" name="Text 1"/>
          <p:cNvSpPr txBox="1"/>
          <p:nvPr/>
        </p:nvSpPr>
        <p:spPr>
          <a:xfrm>
            <a:off x="548640" y="914400"/>
            <a:ext cx="6400800" cy="914400"/>
          </a:xfrm>
          <a:prstGeom prst="rect">
            <a:avLst/>
          </a:prstGeom>
          <a:noFill/>
          <a:ln/>
        </p:spPr>
        <p:txBody>
          <a:bodyPr wrap="square" lIns="0" tIns="0" rIns="0" bIns="0" rtlCol="0" anchor="t"/>
          <a:lstStyle/>
          <a:p>
            <a:pPr marL="0" indent="0" algn="l">
              <a:buNone/>
            </a:pPr>
            <a:r>
              <a:rPr lang="en-US" sz="5400" b="1" dirty="0">
                <a:solidFill>
                  <a:srgbClr val="FFFFFF"/>
                </a:solidFill>
                <a:latin typeface="Cambria" pitchFamily="34" charset="0"/>
                <a:ea typeface="Cambria" pitchFamily="34" charset="-122"/>
                <a:cs typeface="Cambria" pitchFamily="34" charset="-120"/>
              </a:rPr>
              <a:t>DAD Analysis</a:t>
            </a:r>
            <a:endParaRPr lang="en-US" sz="5400" dirty="0"/>
          </a:p>
        </p:txBody>
      </p:sp>
      <p:sp>
        <p:nvSpPr>
          <p:cNvPr id="4" name="Text 2"/>
          <p:cNvSpPr txBox="1"/>
          <p:nvPr/>
        </p:nvSpPr>
        <p:spPr>
          <a:xfrm>
            <a:off x="548640" y="1920240"/>
            <a:ext cx="6400800" cy="457200"/>
          </a:xfrm>
          <a:prstGeom prst="rect">
            <a:avLst/>
          </a:prstGeom>
          <a:noFill/>
          <a:ln/>
        </p:spPr>
        <p:txBody>
          <a:bodyPr wrap="square" lIns="0" tIns="0" rIns="0" bIns="0" rtlCol="0" anchor="t"/>
          <a:lstStyle/>
          <a:p>
            <a:pPr marL="0" indent="0" algn="l">
              <a:buNone/>
            </a:pPr>
            <a:r>
              <a:rPr lang="en-US" sz="2200" dirty="0">
                <a:solidFill>
                  <a:srgbClr val="CFE0EA"/>
                </a:solidFill>
                <a:latin typeface="Calibri" pitchFamily="34" charset="0"/>
                <a:ea typeface="Calibri" pitchFamily="34" charset="-122"/>
                <a:cs typeface="Calibri" pitchFamily="34" charset="-120"/>
              </a:rPr>
              <a:t>강우깊이 – 면적 – 지속기간 해석</a:t>
            </a:r>
            <a:endParaRPr lang="en-US" sz="2200" dirty="0"/>
          </a:p>
        </p:txBody>
      </p:sp>
      <p:sp>
        <p:nvSpPr>
          <p:cNvPr id="5" name="Shape 3"/>
          <p:cNvSpPr/>
          <p:nvPr/>
        </p:nvSpPr>
        <p:spPr>
          <a:xfrm>
            <a:off x="548640" y="2743200"/>
            <a:ext cx="5852160" cy="960120"/>
          </a:xfrm>
          <a:prstGeom prst="rect">
            <a:avLst/>
          </a:prstGeom>
          <a:solidFill>
            <a:srgbClr val="22365E"/>
          </a:solidFill>
          <a:ln w="19050">
            <a:solidFill>
              <a:srgbClr val="1C7293"/>
            </a:solidFill>
            <a:prstDash val="solid"/>
          </a:ln>
        </p:spPr>
        <p:txBody>
          <a:bodyPr/>
          <a:lstStyle/>
          <a:p>
            <a:endParaRPr lang="en-US"/>
          </a:p>
        </p:txBody>
      </p:sp>
      <p:sp>
        <p:nvSpPr>
          <p:cNvPr id="6" name="Shape 4"/>
          <p:cNvSpPr/>
          <p:nvPr/>
        </p:nvSpPr>
        <p:spPr>
          <a:xfrm>
            <a:off x="548640" y="2743200"/>
            <a:ext cx="91440" cy="960120"/>
          </a:xfrm>
          <a:prstGeom prst="rect">
            <a:avLst/>
          </a:prstGeom>
          <a:solidFill>
            <a:srgbClr val="D98E04"/>
          </a:solidFill>
          <a:ln w="12700">
            <a:solidFill>
              <a:srgbClr val="D98E04"/>
            </a:solidFill>
            <a:prstDash val="solid"/>
          </a:ln>
        </p:spPr>
        <p:txBody>
          <a:bodyPr/>
          <a:lstStyle/>
          <a:p>
            <a:endParaRPr lang="en-US"/>
          </a:p>
        </p:txBody>
      </p:sp>
      <p:sp>
        <p:nvSpPr>
          <p:cNvPr id="7" name="Text 5"/>
          <p:cNvSpPr txBox="1"/>
          <p:nvPr/>
        </p:nvSpPr>
        <p:spPr>
          <a:xfrm>
            <a:off x="868680" y="2834640"/>
            <a:ext cx="3291840" cy="411480"/>
          </a:xfrm>
          <a:prstGeom prst="rect">
            <a:avLst/>
          </a:prstGeom>
          <a:noFill/>
          <a:ln/>
        </p:spPr>
        <p:txBody>
          <a:bodyPr wrap="square" lIns="0" tIns="0" rIns="0" bIns="0" rtlCol="0" anchor="t"/>
          <a:lstStyle/>
          <a:p>
            <a:pPr marL="0" indent="0" algn="l">
              <a:buNone/>
            </a:pPr>
            <a:r>
              <a:rPr lang="en-US" sz="2200" b="1" dirty="0">
                <a:solidFill>
                  <a:srgbClr val="FFFFFF"/>
                </a:solidFill>
                <a:latin typeface="Calibri" pitchFamily="34" charset="0"/>
                <a:ea typeface="Calibri" pitchFamily="34" charset="-122"/>
                <a:cs typeface="Calibri" pitchFamily="34" charset="-120"/>
              </a:rPr>
              <a:t>Depth  깊이</a:t>
            </a:r>
            <a:endParaRPr lang="en-US" sz="2200" dirty="0"/>
          </a:p>
        </p:txBody>
      </p:sp>
      <p:sp>
        <p:nvSpPr>
          <p:cNvPr id="8" name="Text 6"/>
          <p:cNvSpPr txBox="1"/>
          <p:nvPr/>
        </p:nvSpPr>
        <p:spPr>
          <a:xfrm>
            <a:off x="868680" y="3246120"/>
            <a:ext cx="3840480" cy="365760"/>
          </a:xfrm>
          <a:prstGeom prst="rect">
            <a:avLst/>
          </a:prstGeom>
          <a:noFill/>
          <a:ln/>
        </p:spPr>
        <p:txBody>
          <a:bodyPr wrap="square" lIns="0" tIns="0" rIns="0" bIns="0" rtlCol="0" anchor="t"/>
          <a:lstStyle/>
          <a:p>
            <a:pPr marL="0" indent="0" algn="l">
              <a:buNone/>
            </a:pPr>
            <a:r>
              <a:rPr lang="en-US" sz="1600" dirty="0">
                <a:solidFill>
                  <a:srgbClr val="CFE0EA"/>
                </a:solidFill>
                <a:latin typeface="Calibri" pitchFamily="34" charset="0"/>
                <a:ea typeface="Calibri" pitchFamily="34" charset="-122"/>
                <a:cs typeface="Calibri" pitchFamily="34" charset="-120"/>
              </a:rPr>
              <a:t>How much rain?</a:t>
            </a:r>
            <a:endParaRPr lang="en-US" sz="1600" dirty="0"/>
          </a:p>
        </p:txBody>
      </p:sp>
      <p:sp>
        <p:nvSpPr>
          <p:cNvPr id="9" name="Text 7"/>
          <p:cNvSpPr txBox="1"/>
          <p:nvPr/>
        </p:nvSpPr>
        <p:spPr>
          <a:xfrm>
            <a:off x="5120640" y="2880360"/>
            <a:ext cx="1097280" cy="640080"/>
          </a:xfrm>
          <a:prstGeom prst="rect">
            <a:avLst/>
          </a:prstGeom>
          <a:noFill/>
          <a:ln/>
        </p:spPr>
        <p:txBody>
          <a:bodyPr wrap="square" lIns="0" tIns="0" rIns="0" bIns="0" rtlCol="0" anchor="ctr"/>
          <a:lstStyle/>
          <a:p>
            <a:pPr marL="0" indent="0" algn="ctr">
              <a:buNone/>
            </a:pPr>
            <a:r>
              <a:rPr lang="en-US" sz="2600" b="1" dirty="0">
                <a:solidFill>
                  <a:srgbClr val="D98E04"/>
                </a:solidFill>
                <a:latin typeface="Calibri" pitchFamily="34" charset="0"/>
                <a:ea typeface="Calibri" pitchFamily="34" charset="-122"/>
                <a:cs typeface="Calibri" pitchFamily="34" charset="-120"/>
              </a:rPr>
              <a:t>mm</a:t>
            </a:r>
            <a:endParaRPr lang="en-US" sz="2600" dirty="0"/>
          </a:p>
        </p:txBody>
      </p:sp>
      <p:sp>
        <p:nvSpPr>
          <p:cNvPr id="10" name="Shape 8"/>
          <p:cNvSpPr/>
          <p:nvPr/>
        </p:nvSpPr>
        <p:spPr>
          <a:xfrm>
            <a:off x="548640" y="3886200"/>
            <a:ext cx="5852160" cy="960120"/>
          </a:xfrm>
          <a:prstGeom prst="rect">
            <a:avLst/>
          </a:prstGeom>
          <a:solidFill>
            <a:srgbClr val="22365E"/>
          </a:solidFill>
          <a:ln w="19050">
            <a:solidFill>
              <a:srgbClr val="1C7293"/>
            </a:solidFill>
            <a:prstDash val="solid"/>
          </a:ln>
        </p:spPr>
        <p:txBody>
          <a:bodyPr/>
          <a:lstStyle/>
          <a:p>
            <a:endParaRPr lang="en-US"/>
          </a:p>
        </p:txBody>
      </p:sp>
      <p:sp>
        <p:nvSpPr>
          <p:cNvPr id="11" name="Shape 9"/>
          <p:cNvSpPr/>
          <p:nvPr/>
        </p:nvSpPr>
        <p:spPr>
          <a:xfrm>
            <a:off x="548640" y="3886200"/>
            <a:ext cx="91440" cy="960120"/>
          </a:xfrm>
          <a:prstGeom prst="rect">
            <a:avLst/>
          </a:prstGeom>
          <a:solidFill>
            <a:srgbClr val="D98E04"/>
          </a:solidFill>
          <a:ln w="12700">
            <a:solidFill>
              <a:srgbClr val="D98E04"/>
            </a:solidFill>
            <a:prstDash val="solid"/>
          </a:ln>
        </p:spPr>
        <p:txBody>
          <a:bodyPr/>
          <a:lstStyle/>
          <a:p>
            <a:endParaRPr lang="en-US"/>
          </a:p>
        </p:txBody>
      </p:sp>
      <p:sp>
        <p:nvSpPr>
          <p:cNvPr id="12" name="Text 10"/>
          <p:cNvSpPr txBox="1"/>
          <p:nvPr/>
        </p:nvSpPr>
        <p:spPr>
          <a:xfrm>
            <a:off x="868680" y="3977640"/>
            <a:ext cx="3291840" cy="411480"/>
          </a:xfrm>
          <a:prstGeom prst="rect">
            <a:avLst/>
          </a:prstGeom>
          <a:noFill/>
          <a:ln/>
        </p:spPr>
        <p:txBody>
          <a:bodyPr wrap="square" lIns="0" tIns="0" rIns="0" bIns="0" rtlCol="0" anchor="t"/>
          <a:lstStyle/>
          <a:p>
            <a:pPr marL="0" indent="0" algn="l">
              <a:buNone/>
            </a:pPr>
            <a:r>
              <a:rPr lang="en-US" sz="2200" b="1" dirty="0">
                <a:solidFill>
                  <a:srgbClr val="FFFFFF"/>
                </a:solidFill>
                <a:latin typeface="Calibri" pitchFamily="34" charset="0"/>
                <a:ea typeface="Calibri" pitchFamily="34" charset="-122"/>
                <a:cs typeface="Calibri" pitchFamily="34" charset="-120"/>
              </a:rPr>
              <a:t>Area  면적</a:t>
            </a:r>
            <a:endParaRPr lang="en-US" sz="2200" dirty="0"/>
          </a:p>
        </p:txBody>
      </p:sp>
      <p:sp>
        <p:nvSpPr>
          <p:cNvPr id="13" name="Text 11"/>
          <p:cNvSpPr txBox="1"/>
          <p:nvPr/>
        </p:nvSpPr>
        <p:spPr>
          <a:xfrm>
            <a:off x="868680" y="4389120"/>
            <a:ext cx="3840480" cy="365760"/>
          </a:xfrm>
          <a:prstGeom prst="rect">
            <a:avLst/>
          </a:prstGeom>
          <a:noFill/>
          <a:ln/>
        </p:spPr>
        <p:txBody>
          <a:bodyPr wrap="square" lIns="0" tIns="0" rIns="0" bIns="0" rtlCol="0" anchor="t"/>
          <a:lstStyle/>
          <a:p>
            <a:pPr marL="0" indent="0" algn="l">
              <a:buNone/>
            </a:pPr>
            <a:r>
              <a:rPr lang="en-US" sz="1600" dirty="0">
                <a:solidFill>
                  <a:srgbClr val="CFE0EA"/>
                </a:solidFill>
                <a:latin typeface="Calibri" pitchFamily="34" charset="0"/>
                <a:ea typeface="Calibri" pitchFamily="34" charset="-122"/>
                <a:cs typeface="Calibri" pitchFamily="34" charset="-120"/>
              </a:rPr>
              <a:t>Over how big a region?</a:t>
            </a:r>
            <a:endParaRPr lang="en-US" sz="1600" dirty="0"/>
          </a:p>
        </p:txBody>
      </p:sp>
      <p:sp>
        <p:nvSpPr>
          <p:cNvPr id="14" name="Text 12"/>
          <p:cNvSpPr txBox="1"/>
          <p:nvPr/>
        </p:nvSpPr>
        <p:spPr>
          <a:xfrm>
            <a:off x="5120640" y="4023360"/>
            <a:ext cx="1097280" cy="640080"/>
          </a:xfrm>
          <a:prstGeom prst="rect">
            <a:avLst/>
          </a:prstGeom>
          <a:noFill/>
          <a:ln/>
        </p:spPr>
        <p:txBody>
          <a:bodyPr wrap="square" lIns="0" tIns="0" rIns="0" bIns="0" rtlCol="0" anchor="ctr"/>
          <a:lstStyle/>
          <a:p>
            <a:pPr marL="0" indent="0" algn="ctr">
              <a:buNone/>
            </a:pPr>
            <a:r>
              <a:rPr lang="en-US" sz="2600" b="1" dirty="0">
                <a:solidFill>
                  <a:srgbClr val="D98E04"/>
                </a:solidFill>
                <a:latin typeface="Calibri" pitchFamily="34" charset="0"/>
                <a:ea typeface="Calibri" pitchFamily="34" charset="-122"/>
                <a:cs typeface="Calibri" pitchFamily="34" charset="-120"/>
              </a:rPr>
              <a:t>km²</a:t>
            </a:r>
            <a:endParaRPr lang="en-US" sz="2600" dirty="0"/>
          </a:p>
        </p:txBody>
      </p:sp>
      <p:sp>
        <p:nvSpPr>
          <p:cNvPr id="15" name="Shape 13"/>
          <p:cNvSpPr/>
          <p:nvPr/>
        </p:nvSpPr>
        <p:spPr>
          <a:xfrm>
            <a:off x="548640" y="5029200"/>
            <a:ext cx="5852160" cy="960120"/>
          </a:xfrm>
          <a:prstGeom prst="rect">
            <a:avLst/>
          </a:prstGeom>
          <a:solidFill>
            <a:srgbClr val="22365E"/>
          </a:solidFill>
          <a:ln w="19050">
            <a:solidFill>
              <a:srgbClr val="1C7293"/>
            </a:solidFill>
            <a:prstDash val="solid"/>
          </a:ln>
        </p:spPr>
        <p:txBody>
          <a:bodyPr/>
          <a:lstStyle/>
          <a:p>
            <a:endParaRPr lang="en-US"/>
          </a:p>
        </p:txBody>
      </p:sp>
      <p:sp>
        <p:nvSpPr>
          <p:cNvPr id="16" name="Shape 14"/>
          <p:cNvSpPr/>
          <p:nvPr/>
        </p:nvSpPr>
        <p:spPr>
          <a:xfrm>
            <a:off x="548640" y="5029200"/>
            <a:ext cx="91440" cy="960120"/>
          </a:xfrm>
          <a:prstGeom prst="rect">
            <a:avLst/>
          </a:prstGeom>
          <a:solidFill>
            <a:srgbClr val="D98E04"/>
          </a:solidFill>
          <a:ln w="12700">
            <a:solidFill>
              <a:srgbClr val="D98E04"/>
            </a:solidFill>
            <a:prstDash val="solid"/>
          </a:ln>
        </p:spPr>
        <p:txBody>
          <a:bodyPr/>
          <a:lstStyle/>
          <a:p>
            <a:endParaRPr lang="en-US"/>
          </a:p>
        </p:txBody>
      </p:sp>
      <p:sp>
        <p:nvSpPr>
          <p:cNvPr id="17" name="Text 15"/>
          <p:cNvSpPr txBox="1"/>
          <p:nvPr/>
        </p:nvSpPr>
        <p:spPr>
          <a:xfrm>
            <a:off x="868680" y="5120640"/>
            <a:ext cx="3291840" cy="411480"/>
          </a:xfrm>
          <a:prstGeom prst="rect">
            <a:avLst/>
          </a:prstGeom>
          <a:noFill/>
          <a:ln/>
        </p:spPr>
        <p:txBody>
          <a:bodyPr wrap="square" lIns="0" tIns="0" rIns="0" bIns="0" rtlCol="0" anchor="t"/>
          <a:lstStyle/>
          <a:p>
            <a:pPr marL="0" indent="0" algn="l">
              <a:buNone/>
            </a:pPr>
            <a:r>
              <a:rPr lang="en-US" sz="2200" b="1" dirty="0">
                <a:solidFill>
                  <a:srgbClr val="FFFFFF"/>
                </a:solidFill>
                <a:latin typeface="Calibri" pitchFamily="34" charset="0"/>
                <a:ea typeface="Calibri" pitchFamily="34" charset="-122"/>
                <a:cs typeface="Calibri" pitchFamily="34" charset="-120"/>
              </a:rPr>
              <a:t>Duration  지속기간</a:t>
            </a:r>
            <a:endParaRPr lang="en-US" sz="2200" dirty="0"/>
          </a:p>
        </p:txBody>
      </p:sp>
      <p:sp>
        <p:nvSpPr>
          <p:cNvPr id="18" name="Text 16"/>
          <p:cNvSpPr txBox="1"/>
          <p:nvPr/>
        </p:nvSpPr>
        <p:spPr>
          <a:xfrm>
            <a:off x="868680" y="5532120"/>
            <a:ext cx="3840480" cy="365760"/>
          </a:xfrm>
          <a:prstGeom prst="rect">
            <a:avLst/>
          </a:prstGeom>
          <a:noFill/>
          <a:ln/>
        </p:spPr>
        <p:txBody>
          <a:bodyPr wrap="square" lIns="0" tIns="0" rIns="0" bIns="0" rtlCol="0" anchor="t"/>
          <a:lstStyle/>
          <a:p>
            <a:pPr marL="0" indent="0" algn="l">
              <a:buNone/>
            </a:pPr>
            <a:r>
              <a:rPr lang="en-US" sz="1600" dirty="0">
                <a:solidFill>
                  <a:srgbClr val="CFE0EA"/>
                </a:solidFill>
                <a:latin typeface="Calibri" pitchFamily="34" charset="0"/>
                <a:ea typeface="Calibri" pitchFamily="34" charset="-122"/>
                <a:cs typeface="Calibri" pitchFamily="34" charset="-120"/>
              </a:rPr>
              <a:t>In how many hours?</a:t>
            </a:r>
            <a:endParaRPr lang="en-US" sz="1600" dirty="0"/>
          </a:p>
        </p:txBody>
      </p:sp>
      <p:sp>
        <p:nvSpPr>
          <p:cNvPr id="19" name="Text 17"/>
          <p:cNvSpPr txBox="1"/>
          <p:nvPr/>
        </p:nvSpPr>
        <p:spPr>
          <a:xfrm>
            <a:off x="5120640" y="5166360"/>
            <a:ext cx="1097280" cy="640080"/>
          </a:xfrm>
          <a:prstGeom prst="rect">
            <a:avLst/>
          </a:prstGeom>
          <a:noFill/>
          <a:ln/>
        </p:spPr>
        <p:txBody>
          <a:bodyPr wrap="square" lIns="0" tIns="0" rIns="0" bIns="0" rtlCol="0" anchor="ctr"/>
          <a:lstStyle/>
          <a:p>
            <a:pPr marL="0" indent="0" algn="ctr">
              <a:buNone/>
            </a:pPr>
            <a:r>
              <a:rPr lang="en-US" sz="2600" b="1" dirty="0">
                <a:solidFill>
                  <a:srgbClr val="D98E04"/>
                </a:solidFill>
                <a:latin typeface="Calibri" pitchFamily="34" charset="0"/>
                <a:ea typeface="Calibri" pitchFamily="34" charset="-122"/>
                <a:cs typeface="Calibri" pitchFamily="34" charset="-120"/>
              </a:rPr>
              <a:t>h</a:t>
            </a:r>
            <a:endParaRPr lang="en-US" sz="2600" dirty="0"/>
          </a:p>
        </p:txBody>
      </p:sp>
      <p:pic>
        <p:nvPicPr>
          <p:cNvPr id="20" name="Image 0" descr="g0.png"/>
          <p:cNvPicPr>
            <a:picLocks noChangeAspect="1"/>
          </p:cNvPicPr>
          <p:nvPr/>
        </p:nvPicPr>
        <p:blipFill>
          <a:blip r:embed="rId3"/>
          <a:stretch>
            <a:fillRect/>
          </a:stretch>
        </p:blipFill>
        <p:spPr>
          <a:xfrm>
            <a:off x="6949440" y="1097280"/>
            <a:ext cx="4754880" cy="4754880"/>
          </a:xfrm>
          <a:prstGeom prst="rect">
            <a:avLst/>
          </a:prstGeom>
        </p:spPr>
      </p:pic>
      <p:sp>
        <p:nvSpPr>
          <p:cNvPr id="21" name="Text 18"/>
          <p:cNvSpPr txBox="1"/>
          <p:nvPr/>
        </p:nvSpPr>
        <p:spPr>
          <a:xfrm>
            <a:off x="6949440" y="5943600"/>
            <a:ext cx="4754880" cy="365760"/>
          </a:xfrm>
          <a:prstGeom prst="rect">
            <a:avLst/>
          </a:prstGeom>
          <a:noFill/>
          <a:ln/>
        </p:spPr>
        <p:txBody>
          <a:bodyPr wrap="square" lIns="0" tIns="0" rIns="0" bIns="0" rtlCol="0" anchor="t"/>
          <a:lstStyle/>
          <a:p>
            <a:pPr marL="0" indent="0" algn="ctr">
              <a:buNone/>
            </a:pPr>
            <a:r>
              <a:rPr lang="en-US" sz="1600" i="1" dirty="0">
                <a:solidFill>
                  <a:srgbClr val="FFFFFF"/>
                </a:solidFill>
                <a:latin typeface="Calibri" pitchFamily="34" charset="0"/>
                <a:ea typeface="Calibri" pitchFamily="34" charset="-122"/>
                <a:cs typeface="Calibri" pitchFamily="34" charset="-120"/>
              </a:rPr>
              <a:t>Bigger area → lower average depth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1B2A4A"/>
          </a:solidFill>
          <a:ln w="12700">
            <a:solidFill>
              <a:srgbClr val="1B2A4A"/>
            </a:solidFill>
            <a:prstDash val="solid"/>
          </a:ln>
        </p:spPr>
        <p:txBody>
          <a:bodyPr/>
          <a:lstStyle/>
          <a:p>
            <a:endParaRPr lang="en-US"/>
          </a:p>
        </p:txBody>
      </p:sp>
      <p:sp>
        <p:nvSpPr>
          <p:cNvPr id="3" name="Text 1"/>
          <p:cNvSpPr txBox="1"/>
          <p:nvPr/>
        </p:nvSpPr>
        <p:spPr>
          <a:xfrm>
            <a:off x="548640" y="365760"/>
            <a:ext cx="3657600" cy="365760"/>
          </a:xfrm>
          <a:prstGeom prst="rect">
            <a:avLst/>
          </a:prstGeom>
          <a:noFill/>
          <a:ln/>
        </p:spPr>
        <p:txBody>
          <a:bodyPr wrap="square" lIns="0" tIns="0" rIns="0" bIns="0" rtlCol="0" anchor="t"/>
          <a:lstStyle/>
          <a:p>
            <a:pPr marL="0" indent="0" algn="l">
              <a:buNone/>
            </a:pPr>
            <a:r>
              <a:rPr lang="en-US" sz="1600" b="1" dirty="0">
                <a:solidFill>
                  <a:srgbClr val="1B2A4A"/>
                </a:solidFill>
                <a:latin typeface="Calibri" pitchFamily="34" charset="0"/>
                <a:ea typeface="Calibri" pitchFamily="34" charset="-122"/>
                <a:cs typeface="Calibri" pitchFamily="34" charset="-120"/>
              </a:rPr>
              <a:t>EXAMPLE</a:t>
            </a:r>
            <a:endParaRPr lang="en-US" sz="1600" dirty="0"/>
          </a:p>
        </p:txBody>
      </p:sp>
      <p:sp>
        <p:nvSpPr>
          <p:cNvPr id="4" name="Text 2"/>
          <p:cNvSpPr txBox="1"/>
          <p:nvPr/>
        </p:nvSpPr>
        <p:spPr>
          <a:xfrm>
            <a:off x="548640" y="731520"/>
            <a:ext cx="11155680" cy="685800"/>
          </a:xfrm>
          <a:prstGeom prst="rect">
            <a:avLst/>
          </a:prstGeom>
          <a:noFill/>
          <a:ln/>
        </p:spPr>
        <p:txBody>
          <a:bodyPr wrap="square" lIns="0" tIns="0" rIns="0" bIns="0" rtlCol="0" anchor="t"/>
          <a:lstStyle/>
          <a:p>
            <a:pPr marL="0" indent="0" algn="l">
              <a:buNone/>
            </a:pPr>
            <a:r>
              <a:rPr lang="en-US" sz="3400" b="1" dirty="0">
                <a:solidFill>
                  <a:srgbClr val="1B2A4A"/>
                </a:solidFill>
                <a:latin typeface="Cambria" pitchFamily="34" charset="0"/>
                <a:ea typeface="Cambria" pitchFamily="34" charset="-122"/>
                <a:cs typeface="Cambria" pitchFamily="34" charset="-120"/>
              </a:rPr>
              <a:t>One Basin, Three Zones, Three Gauges</a:t>
            </a:r>
            <a:endParaRPr lang="en-US" sz="3400" dirty="0"/>
          </a:p>
        </p:txBody>
      </p:sp>
      <p:sp>
        <p:nvSpPr>
          <p:cNvPr id="5" name="Text 3"/>
          <p:cNvSpPr txBox="1"/>
          <p:nvPr/>
        </p:nvSpPr>
        <p:spPr>
          <a:xfrm>
            <a:off x="548640" y="1417320"/>
            <a:ext cx="10972800" cy="365760"/>
          </a:xfrm>
          <a:prstGeom prst="rect">
            <a:avLst/>
          </a:prstGeom>
          <a:noFill/>
          <a:ln/>
        </p:spPr>
        <p:txBody>
          <a:bodyPr wrap="square" lIns="0" tIns="0" rIns="0" bIns="0" rtlCol="0" anchor="t"/>
          <a:lstStyle/>
          <a:p>
            <a:pPr marL="0" indent="0" algn="l">
              <a:buNone/>
            </a:pPr>
            <a:r>
              <a:rPr lang="en-US" sz="1600" dirty="0">
                <a:solidFill>
                  <a:srgbClr val="51697A"/>
                </a:solidFill>
                <a:latin typeface="Calibri" pitchFamily="34" charset="0"/>
                <a:ea typeface="Calibri" pitchFamily="34" charset="-122"/>
                <a:cs typeface="Calibri" pitchFamily="34" charset="-120"/>
              </a:rPr>
              <a:t>유역을 3개 구역으로 나누고 관측소 1개씩</a:t>
            </a:r>
            <a:endParaRPr lang="en-US" sz="1600" dirty="0"/>
          </a:p>
        </p:txBody>
      </p:sp>
      <p:pic>
        <p:nvPicPr>
          <p:cNvPr id="6" name="Image 0" descr="g1.png"/>
          <p:cNvPicPr>
            <a:picLocks noChangeAspect="1"/>
          </p:cNvPicPr>
          <p:nvPr/>
        </p:nvPicPr>
        <p:blipFill>
          <a:blip r:embed="rId3"/>
          <a:stretch>
            <a:fillRect/>
          </a:stretch>
        </p:blipFill>
        <p:spPr>
          <a:xfrm>
            <a:off x="457200" y="1874520"/>
            <a:ext cx="4480560" cy="448056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877554311"/>
              </p:ext>
            </p:extLst>
          </p:nvPr>
        </p:nvGraphicFramePr>
        <p:xfrm>
          <a:off x="5216511" y="1874520"/>
          <a:ext cx="6614295" cy="3218688"/>
        </p:xfrm>
        <a:graphic>
          <a:graphicData uri="http://schemas.openxmlformats.org/drawingml/2006/table">
            <a:tbl>
              <a:tblPr/>
              <a:tblGrid>
                <a:gridCol w="1301347">
                  <a:extLst>
                    <a:ext uri="{9D8B030D-6E8A-4147-A177-3AD203B41FA5}">
                      <a16:colId xmlns:a16="http://schemas.microsoft.com/office/drawing/2014/main" val="20000"/>
                    </a:ext>
                  </a:extLst>
                </a:gridCol>
                <a:gridCol w="2005800">
                  <a:extLst>
                    <a:ext uri="{9D8B030D-6E8A-4147-A177-3AD203B41FA5}">
                      <a16:colId xmlns:a16="http://schemas.microsoft.com/office/drawing/2014/main" val="20001"/>
                    </a:ext>
                  </a:extLst>
                </a:gridCol>
                <a:gridCol w="1653574">
                  <a:extLst>
                    <a:ext uri="{9D8B030D-6E8A-4147-A177-3AD203B41FA5}">
                      <a16:colId xmlns:a16="http://schemas.microsoft.com/office/drawing/2014/main" val="20002"/>
                    </a:ext>
                  </a:extLst>
                </a:gridCol>
                <a:gridCol w="1653574">
                  <a:extLst>
                    <a:ext uri="{9D8B030D-6E8A-4147-A177-3AD203B41FA5}">
                      <a16:colId xmlns:a16="http://schemas.microsoft.com/office/drawing/2014/main" val="20003"/>
                    </a:ext>
                  </a:extLst>
                </a:gridCol>
              </a:tblGrid>
              <a:tr h="402336">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Time (h)</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1B2A4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Zone I (100 km²)</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1B2A4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Zone II(200 km²)</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1B2A4A"/>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Zone III(300 km²)</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02336">
                <a:tc>
                  <a:txBody>
                    <a:bodyPr/>
                    <a:lstStyle/>
                    <a:p>
                      <a:pPr marL="0" indent="0" algn="ctr">
                        <a:buNone/>
                      </a:pPr>
                      <a:r>
                        <a:rPr lang="en-US" sz="1600" b="1" dirty="0">
                          <a:solidFill>
                            <a:srgbClr val="1B2B34"/>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600" b="1" dirty="0">
                          <a:solidFill>
                            <a:srgbClr val="1B2B34"/>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600" b="1" dirty="0">
                          <a:solidFill>
                            <a:srgbClr val="1B2B34"/>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n-US" sz="1600" b="1" dirty="0">
                          <a:solidFill>
                            <a:srgbClr val="1B2B34"/>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22</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ctr">
                        <a:buNone/>
                      </a:pPr>
                      <a:r>
                        <a:rPr lang="en-US" sz="1600" b="1" dirty="0">
                          <a:solidFill>
                            <a:srgbClr val="1B2B34"/>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36</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27</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17</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ctr">
                        <a:buNone/>
                      </a:pPr>
                      <a:r>
                        <a:rPr lang="en-US" sz="1600" b="1" dirty="0">
                          <a:solidFill>
                            <a:srgbClr val="1B2B34"/>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39</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29</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19</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ctr">
                        <a:buNone/>
                      </a:pPr>
                      <a:r>
                        <a:rPr lang="en-US" sz="1600" b="1" dirty="0">
                          <a:solidFill>
                            <a:srgbClr val="1B2B34"/>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4"/>
          <p:cNvSpPr txBox="1"/>
          <p:nvPr/>
        </p:nvSpPr>
        <p:spPr>
          <a:xfrm>
            <a:off x="5394960" y="5193792"/>
            <a:ext cx="6217920" cy="274320"/>
          </a:xfrm>
          <a:prstGeom prst="rect">
            <a:avLst/>
          </a:prstGeom>
          <a:noFill/>
          <a:ln/>
        </p:spPr>
        <p:txBody>
          <a:bodyPr wrap="square" lIns="0" tIns="0" rIns="0" bIns="0" rtlCol="0" anchor="t"/>
          <a:lstStyle/>
          <a:p>
            <a:pPr marL="0" indent="0" algn="l">
              <a:buNone/>
            </a:pPr>
            <a:r>
              <a:rPr lang="en-US" sz="1300" i="1" dirty="0">
                <a:solidFill>
                  <a:srgbClr val="51697A"/>
                </a:solidFill>
                <a:latin typeface="Calibri" pitchFamily="34" charset="0"/>
                <a:ea typeface="Calibri" pitchFamily="34" charset="-122"/>
                <a:cs typeface="Calibri" pitchFamily="34" charset="-120"/>
              </a:rPr>
              <a:t>Cumulative rainfall (mm) = total since the storm began.  누가우량</a:t>
            </a:r>
            <a:endParaRPr lang="en-US" sz="1300" dirty="0"/>
          </a:p>
        </p:txBody>
      </p:sp>
      <p:sp>
        <p:nvSpPr>
          <p:cNvPr id="9" name="Shape 5"/>
          <p:cNvSpPr/>
          <p:nvPr/>
        </p:nvSpPr>
        <p:spPr>
          <a:xfrm>
            <a:off x="5394960" y="5532120"/>
            <a:ext cx="6217920" cy="822960"/>
          </a:xfrm>
          <a:prstGeom prst="rect">
            <a:avLst/>
          </a:prstGeom>
          <a:solidFill>
            <a:srgbClr val="EEF3F6"/>
          </a:solidFill>
          <a:ln w="12700">
            <a:solidFill>
              <a:srgbClr val="EEF3F6"/>
            </a:solidFill>
            <a:prstDash val="solid"/>
          </a:ln>
        </p:spPr>
        <p:txBody>
          <a:bodyPr/>
          <a:lstStyle/>
          <a:p>
            <a:endParaRPr lang="en-US"/>
          </a:p>
        </p:txBody>
      </p:sp>
      <p:sp>
        <p:nvSpPr>
          <p:cNvPr id="10" name="Shape 6"/>
          <p:cNvSpPr/>
          <p:nvPr/>
        </p:nvSpPr>
        <p:spPr>
          <a:xfrm>
            <a:off x="5394960" y="5532120"/>
            <a:ext cx="91440" cy="822960"/>
          </a:xfrm>
          <a:prstGeom prst="rect">
            <a:avLst/>
          </a:prstGeom>
          <a:solidFill>
            <a:srgbClr val="1B2A4A"/>
          </a:solidFill>
          <a:ln w="12700">
            <a:solidFill>
              <a:srgbClr val="1B2A4A"/>
            </a:solidFill>
            <a:prstDash val="solid"/>
          </a:ln>
        </p:spPr>
        <p:txBody>
          <a:bodyPr/>
          <a:lstStyle/>
          <a:p>
            <a:endParaRPr lang="en-US"/>
          </a:p>
        </p:txBody>
      </p:sp>
      <p:sp>
        <p:nvSpPr>
          <p:cNvPr id="11" name="Text 7"/>
          <p:cNvSpPr txBox="1"/>
          <p:nvPr/>
        </p:nvSpPr>
        <p:spPr>
          <a:xfrm>
            <a:off x="5669280" y="5641848"/>
            <a:ext cx="5760720" cy="365760"/>
          </a:xfrm>
          <a:prstGeom prst="rect">
            <a:avLst/>
          </a:prstGeom>
          <a:noFill/>
          <a:ln/>
        </p:spPr>
        <p:txBody>
          <a:bodyPr wrap="square" lIns="0" tIns="0" rIns="0" bIns="0" rtlCol="0" anchor="t"/>
          <a:lstStyle/>
          <a:p>
            <a:pPr marL="0" indent="0" algn="l">
              <a:buNone/>
            </a:pPr>
            <a:r>
              <a:rPr lang="en-US" sz="1600" b="1" dirty="0">
                <a:solidFill>
                  <a:srgbClr val="1B2A4A"/>
                </a:solidFill>
                <a:latin typeface="Calibri" pitchFamily="34" charset="0"/>
                <a:ea typeface="Calibri" pitchFamily="34" charset="-122"/>
                <a:cs typeface="Calibri" pitchFamily="34" charset="-120"/>
              </a:rPr>
              <a:t>Areas</a:t>
            </a:r>
            <a:endParaRPr lang="en-US" sz="1600" dirty="0"/>
          </a:p>
        </p:txBody>
      </p:sp>
      <p:sp>
        <p:nvSpPr>
          <p:cNvPr id="12" name="Text 8"/>
          <p:cNvSpPr txBox="1"/>
          <p:nvPr/>
        </p:nvSpPr>
        <p:spPr>
          <a:xfrm>
            <a:off x="5669280" y="6035040"/>
            <a:ext cx="5760720" cy="274320"/>
          </a:xfrm>
          <a:prstGeom prst="rect">
            <a:avLst/>
          </a:prstGeom>
          <a:noFill/>
          <a:ln/>
        </p:spPr>
        <p:txBody>
          <a:bodyPr wrap="square" lIns="0" tIns="0" rIns="0" bIns="0" rtlCol="0" anchor="t"/>
          <a:lstStyle/>
          <a:p>
            <a:pPr marL="0" indent="0" algn="l">
              <a:buNone/>
            </a:pPr>
            <a:r>
              <a:rPr lang="en-US" sz="1700" dirty="0">
                <a:solidFill>
                  <a:srgbClr val="1B2B34"/>
                </a:solidFill>
                <a:latin typeface="Calibri" pitchFamily="34" charset="0"/>
                <a:ea typeface="Calibri" pitchFamily="34" charset="-122"/>
                <a:cs typeface="Calibri" pitchFamily="34" charset="-120"/>
              </a:rPr>
              <a:t>Zone I = 100 km²   ·   Zone II = 200   ·   Zone III = 300</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1C7293"/>
          </a:solidFill>
          <a:ln w="12700">
            <a:solidFill>
              <a:srgbClr val="1C7293"/>
            </a:solidFill>
            <a:prstDash val="solid"/>
          </a:ln>
        </p:spPr>
        <p:txBody>
          <a:bodyPr/>
          <a:lstStyle/>
          <a:p>
            <a:endParaRPr lang="en-US"/>
          </a:p>
        </p:txBody>
      </p:sp>
      <p:sp>
        <p:nvSpPr>
          <p:cNvPr id="3" name="Text 1"/>
          <p:cNvSpPr txBox="1"/>
          <p:nvPr/>
        </p:nvSpPr>
        <p:spPr>
          <a:xfrm>
            <a:off x="548640" y="365760"/>
            <a:ext cx="3657600" cy="365760"/>
          </a:xfrm>
          <a:prstGeom prst="rect">
            <a:avLst/>
          </a:prstGeom>
          <a:noFill/>
          <a:ln/>
        </p:spPr>
        <p:txBody>
          <a:bodyPr wrap="square" lIns="0" tIns="0" rIns="0" bIns="0" rtlCol="0" anchor="t"/>
          <a:lstStyle/>
          <a:p>
            <a:pPr marL="0" indent="0" algn="l">
              <a:buNone/>
            </a:pPr>
            <a:r>
              <a:rPr lang="en-US" sz="1600" b="1" dirty="0">
                <a:solidFill>
                  <a:srgbClr val="1C7293"/>
                </a:solidFill>
                <a:latin typeface="Calibri" pitchFamily="34" charset="0"/>
                <a:ea typeface="Calibri" pitchFamily="34" charset="-122"/>
                <a:cs typeface="Calibri" pitchFamily="34" charset="-120"/>
              </a:rPr>
              <a:t>STEP 1</a:t>
            </a:r>
            <a:endParaRPr lang="en-US" sz="1600" dirty="0"/>
          </a:p>
        </p:txBody>
      </p:sp>
      <p:sp>
        <p:nvSpPr>
          <p:cNvPr id="4" name="Text 2"/>
          <p:cNvSpPr txBox="1"/>
          <p:nvPr/>
        </p:nvSpPr>
        <p:spPr>
          <a:xfrm>
            <a:off x="548640" y="731520"/>
            <a:ext cx="11155680" cy="685800"/>
          </a:xfrm>
          <a:prstGeom prst="rect">
            <a:avLst/>
          </a:prstGeom>
          <a:noFill/>
          <a:ln/>
        </p:spPr>
        <p:txBody>
          <a:bodyPr wrap="square" lIns="0" tIns="0" rIns="0" bIns="0" rtlCol="0" anchor="t"/>
          <a:lstStyle/>
          <a:p>
            <a:pPr marL="0" indent="0" algn="l">
              <a:buNone/>
            </a:pPr>
            <a:r>
              <a:rPr lang="en-US" sz="3400" b="1" dirty="0">
                <a:solidFill>
                  <a:srgbClr val="1B2A4A"/>
                </a:solidFill>
                <a:latin typeface="Cambria" pitchFamily="34" charset="0"/>
                <a:ea typeface="Cambria" pitchFamily="34" charset="-122"/>
                <a:cs typeface="Cambria" pitchFamily="34" charset="-120"/>
              </a:rPr>
              <a:t>Average Over Growing Areas</a:t>
            </a:r>
            <a:endParaRPr lang="en-US" sz="3400" dirty="0"/>
          </a:p>
        </p:txBody>
      </p:sp>
      <p:sp>
        <p:nvSpPr>
          <p:cNvPr id="5" name="Text 3"/>
          <p:cNvSpPr txBox="1"/>
          <p:nvPr/>
        </p:nvSpPr>
        <p:spPr>
          <a:xfrm>
            <a:off x="548640" y="1417320"/>
            <a:ext cx="10972800" cy="365760"/>
          </a:xfrm>
          <a:prstGeom prst="rect">
            <a:avLst/>
          </a:prstGeom>
          <a:noFill/>
          <a:ln/>
        </p:spPr>
        <p:txBody>
          <a:bodyPr wrap="square" lIns="0" tIns="0" rIns="0" bIns="0" rtlCol="0" anchor="t"/>
          <a:lstStyle/>
          <a:p>
            <a:pPr marL="0" indent="0" algn="l">
              <a:buNone/>
            </a:pPr>
            <a:r>
              <a:rPr lang="en-US" sz="1600" dirty="0">
                <a:solidFill>
                  <a:srgbClr val="51697A"/>
                </a:solidFill>
                <a:latin typeface="Calibri" pitchFamily="34" charset="0"/>
                <a:ea typeface="Calibri" pitchFamily="34" charset="-122"/>
                <a:cs typeface="Calibri" pitchFamily="34" charset="-120"/>
              </a:rPr>
              <a:t>점점 넓어지는 면적에 대해 평균을 구한다</a:t>
            </a:r>
            <a:endParaRPr lang="en-US" sz="1600" dirty="0"/>
          </a:p>
        </p:txBody>
      </p:sp>
      <p:pic>
        <p:nvPicPr>
          <p:cNvPr id="6" name="Image 0" descr="g2.png"/>
          <p:cNvPicPr>
            <a:picLocks noChangeAspect="1"/>
          </p:cNvPicPr>
          <p:nvPr/>
        </p:nvPicPr>
        <p:blipFill>
          <a:blip r:embed="rId3"/>
          <a:stretch>
            <a:fillRect/>
          </a:stretch>
        </p:blipFill>
        <p:spPr>
          <a:xfrm>
            <a:off x="811983" y="1643949"/>
            <a:ext cx="10674714" cy="3943035"/>
          </a:xfrm>
          <a:prstGeom prst="rect">
            <a:avLst/>
          </a:prstGeom>
        </p:spPr>
      </p:pic>
      <p:sp>
        <p:nvSpPr>
          <p:cNvPr id="7" name="Shape 4"/>
          <p:cNvSpPr/>
          <p:nvPr/>
        </p:nvSpPr>
        <p:spPr>
          <a:xfrm>
            <a:off x="548640" y="5532120"/>
            <a:ext cx="3611880" cy="822960"/>
          </a:xfrm>
          <a:prstGeom prst="rect">
            <a:avLst/>
          </a:prstGeom>
          <a:solidFill>
            <a:srgbClr val="EEF3F6"/>
          </a:solidFill>
          <a:ln w="12700">
            <a:solidFill>
              <a:srgbClr val="EEF3F6"/>
            </a:solidFill>
            <a:prstDash val="solid"/>
          </a:ln>
        </p:spPr>
        <p:txBody>
          <a:bodyPr/>
          <a:lstStyle/>
          <a:p>
            <a:endParaRPr lang="en-US"/>
          </a:p>
        </p:txBody>
      </p:sp>
      <p:sp>
        <p:nvSpPr>
          <p:cNvPr id="8" name="Shape 5"/>
          <p:cNvSpPr/>
          <p:nvPr/>
        </p:nvSpPr>
        <p:spPr>
          <a:xfrm>
            <a:off x="548640" y="5532120"/>
            <a:ext cx="91440" cy="822960"/>
          </a:xfrm>
          <a:prstGeom prst="rect">
            <a:avLst/>
          </a:prstGeom>
          <a:solidFill>
            <a:srgbClr val="1C7293"/>
          </a:solidFill>
          <a:ln w="12700">
            <a:solidFill>
              <a:srgbClr val="1C7293"/>
            </a:solidFill>
            <a:prstDash val="solid"/>
          </a:ln>
        </p:spPr>
        <p:txBody>
          <a:bodyPr/>
          <a:lstStyle/>
          <a:p>
            <a:endParaRPr lang="en-US"/>
          </a:p>
        </p:txBody>
      </p:sp>
      <p:sp>
        <p:nvSpPr>
          <p:cNvPr id="9" name="Text 6"/>
          <p:cNvSpPr txBox="1"/>
          <p:nvPr/>
        </p:nvSpPr>
        <p:spPr>
          <a:xfrm>
            <a:off x="822960" y="5641848"/>
            <a:ext cx="3154680" cy="365760"/>
          </a:xfrm>
          <a:prstGeom prst="rect">
            <a:avLst/>
          </a:prstGeom>
          <a:noFill/>
          <a:ln/>
        </p:spPr>
        <p:txBody>
          <a:bodyPr wrap="square" lIns="0" tIns="0" rIns="0" bIns="0" rtlCol="0" anchor="t"/>
          <a:lstStyle/>
          <a:p>
            <a:pPr marL="0" indent="0" algn="l">
              <a:buNone/>
            </a:pPr>
            <a:r>
              <a:rPr lang="en-US" sz="1600" b="1" dirty="0">
                <a:solidFill>
                  <a:srgbClr val="1C7293"/>
                </a:solidFill>
                <a:latin typeface="Calibri" pitchFamily="34" charset="0"/>
                <a:ea typeface="Calibri" pitchFamily="34" charset="-122"/>
                <a:cs typeface="Calibri" pitchFamily="34" charset="-120"/>
              </a:rPr>
              <a:t>Zone I only</a:t>
            </a:r>
            <a:endParaRPr lang="en-US" sz="1600" dirty="0"/>
          </a:p>
        </p:txBody>
      </p:sp>
      <p:sp>
        <p:nvSpPr>
          <p:cNvPr id="10" name="Text 7"/>
          <p:cNvSpPr txBox="1"/>
          <p:nvPr/>
        </p:nvSpPr>
        <p:spPr>
          <a:xfrm>
            <a:off x="822960" y="6035040"/>
            <a:ext cx="3154680" cy="274320"/>
          </a:xfrm>
          <a:prstGeom prst="rect">
            <a:avLst/>
          </a:prstGeom>
          <a:noFill/>
          <a:ln/>
        </p:spPr>
        <p:txBody>
          <a:bodyPr wrap="square" lIns="0" tIns="0" rIns="0" bIns="0" rtlCol="0" anchor="t"/>
          <a:lstStyle/>
          <a:p>
            <a:pPr marL="0" indent="0" algn="l">
              <a:buNone/>
            </a:pPr>
            <a:r>
              <a:rPr lang="en-US" sz="1800" dirty="0">
                <a:solidFill>
                  <a:srgbClr val="1B2B34"/>
                </a:solidFill>
                <a:latin typeface="Calibri" pitchFamily="34" charset="0"/>
                <a:ea typeface="Calibri" pitchFamily="34" charset="-122"/>
                <a:cs typeface="Calibri" pitchFamily="34" charset="-120"/>
              </a:rPr>
              <a:t>= 40.0 mm</a:t>
            </a:r>
            <a:endParaRPr lang="en-US" sz="1800" dirty="0"/>
          </a:p>
        </p:txBody>
      </p:sp>
      <p:sp>
        <p:nvSpPr>
          <p:cNvPr id="11" name="Shape 8"/>
          <p:cNvSpPr/>
          <p:nvPr/>
        </p:nvSpPr>
        <p:spPr>
          <a:xfrm>
            <a:off x="4297680" y="5532120"/>
            <a:ext cx="3611880" cy="822960"/>
          </a:xfrm>
          <a:prstGeom prst="rect">
            <a:avLst/>
          </a:prstGeom>
          <a:solidFill>
            <a:srgbClr val="EEF3F6"/>
          </a:solidFill>
          <a:ln w="12700">
            <a:solidFill>
              <a:srgbClr val="EEF3F6"/>
            </a:solidFill>
            <a:prstDash val="solid"/>
          </a:ln>
        </p:spPr>
        <p:txBody>
          <a:bodyPr/>
          <a:lstStyle/>
          <a:p>
            <a:endParaRPr lang="en-US"/>
          </a:p>
        </p:txBody>
      </p:sp>
      <p:sp>
        <p:nvSpPr>
          <p:cNvPr id="12" name="Shape 9"/>
          <p:cNvSpPr/>
          <p:nvPr/>
        </p:nvSpPr>
        <p:spPr>
          <a:xfrm>
            <a:off x="4297680" y="5532120"/>
            <a:ext cx="91440" cy="822960"/>
          </a:xfrm>
          <a:prstGeom prst="rect">
            <a:avLst/>
          </a:prstGeom>
          <a:solidFill>
            <a:srgbClr val="1C7293"/>
          </a:solidFill>
          <a:ln w="12700">
            <a:solidFill>
              <a:srgbClr val="1C7293"/>
            </a:solidFill>
            <a:prstDash val="solid"/>
          </a:ln>
        </p:spPr>
        <p:txBody>
          <a:bodyPr/>
          <a:lstStyle/>
          <a:p>
            <a:endParaRPr lang="en-US"/>
          </a:p>
        </p:txBody>
      </p:sp>
      <p:sp>
        <p:nvSpPr>
          <p:cNvPr id="13" name="Text 10"/>
          <p:cNvSpPr txBox="1"/>
          <p:nvPr/>
        </p:nvSpPr>
        <p:spPr>
          <a:xfrm>
            <a:off x="4572000" y="5641848"/>
            <a:ext cx="3154680" cy="365760"/>
          </a:xfrm>
          <a:prstGeom prst="rect">
            <a:avLst/>
          </a:prstGeom>
          <a:noFill/>
          <a:ln/>
        </p:spPr>
        <p:txBody>
          <a:bodyPr wrap="square" lIns="0" tIns="0" rIns="0" bIns="0" rtlCol="0" anchor="t"/>
          <a:lstStyle/>
          <a:p>
            <a:pPr marL="0" indent="0" algn="l">
              <a:buNone/>
            </a:pPr>
            <a:r>
              <a:rPr lang="en-US" sz="1600" b="1" dirty="0">
                <a:solidFill>
                  <a:srgbClr val="1C7293"/>
                </a:solidFill>
                <a:latin typeface="Calibri" pitchFamily="34" charset="0"/>
                <a:ea typeface="Calibri" pitchFamily="34" charset="-122"/>
                <a:cs typeface="Calibri" pitchFamily="34" charset="-120"/>
              </a:rPr>
              <a:t>Zone I + II</a:t>
            </a:r>
            <a:endParaRPr lang="en-US" sz="1600" dirty="0"/>
          </a:p>
        </p:txBody>
      </p:sp>
      <p:sp>
        <p:nvSpPr>
          <p:cNvPr id="14" name="Text 11"/>
          <p:cNvSpPr txBox="1"/>
          <p:nvPr/>
        </p:nvSpPr>
        <p:spPr>
          <a:xfrm>
            <a:off x="4572000" y="6035040"/>
            <a:ext cx="3154680" cy="274320"/>
          </a:xfrm>
          <a:prstGeom prst="rect">
            <a:avLst/>
          </a:prstGeom>
          <a:noFill/>
          <a:ln/>
        </p:spPr>
        <p:txBody>
          <a:bodyPr wrap="square" lIns="0" tIns="0" rIns="0" bIns="0" rtlCol="0" anchor="t"/>
          <a:lstStyle/>
          <a:p>
            <a:pPr marL="0" indent="0" algn="l">
              <a:buNone/>
            </a:pPr>
            <a:r>
              <a:rPr lang="en-US" sz="1500" dirty="0">
                <a:solidFill>
                  <a:srgbClr val="1B2B34"/>
                </a:solidFill>
                <a:latin typeface="Calibri" pitchFamily="34" charset="0"/>
                <a:ea typeface="Calibri" pitchFamily="34" charset="-122"/>
                <a:cs typeface="Calibri" pitchFamily="34" charset="-120"/>
              </a:rPr>
              <a:t>(100×40 + 200×30) ÷ 300 = 33.3</a:t>
            </a:r>
            <a:endParaRPr lang="en-US" sz="1500" dirty="0"/>
          </a:p>
        </p:txBody>
      </p:sp>
      <p:sp>
        <p:nvSpPr>
          <p:cNvPr id="15" name="Shape 12"/>
          <p:cNvSpPr/>
          <p:nvPr/>
        </p:nvSpPr>
        <p:spPr>
          <a:xfrm>
            <a:off x="8046720" y="5532120"/>
            <a:ext cx="3611880" cy="822960"/>
          </a:xfrm>
          <a:prstGeom prst="rect">
            <a:avLst/>
          </a:prstGeom>
          <a:solidFill>
            <a:srgbClr val="EEF3F6"/>
          </a:solidFill>
          <a:ln w="12700">
            <a:solidFill>
              <a:srgbClr val="EEF3F6"/>
            </a:solidFill>
            <a:prstDash val="solid"/>
          </a:ln>
        </p:spPr>
        <p:txBody>
          <a:bodyPr/>
          <a:lstStyle/>
          <a:p>
            <a:endParaRPr lang="en-US"/>
          </a:p>
        </p:txBody>
      </p:sp>
      <p:sp>
        <p:nvSpPr>
          <p:cNvPr id="16" name="Shape 13"/>
          <p:cNvSpPr/>
          <p:nvPr/>
        </p:nvSpPr>
        <p:spPr>
          <a:xfrm>
            <a:off x="8046720" y="5532120"/>
            <a:ext cx="91440" cy="822960"/>
          </a:xfrm>
          <a:prstGeom prst="rect">
            <a:avLst/>
          </a:prstGeom>
          <a:solidFill>
            <a:srgbClr val="1C7293"/>
          </a:solidFill>
          <a:ln w="12700">
            <a:solidFill>
              <a:srgbClr val="1C7293"/>
            </a:solidFill>
            <a:prstDash val="solid"/>
          </a:ln>
        </p:spPr>
        <p:txBody>
          <a:bodyPr/>
          <a:lstStyle/>
          <a:p>
            <a:endParaRPr lang="en-US"/>
          </a:p>
        </p:txBody>
      </p:sp>
      <p:sp>
        <p:nvSpPr>
          <p:cNvPr id="17" name="Text 14"/>
          <p:cNvSpPr txBox="1"/>
          <p:nvPr/>
        </p:nvSpPr>
        <p:spPr>
          <a:xfrm>
            <a:off x="8321040" y="5641848"/>
            <a:ext cx="3154680" cy="365760"/>
          </a:xfrm>
          <a:prstGeom prst="rect">
            <a:avLst/>
          </a:prstGeom>
          <a:noFill/>
          <a:ln/>
        </p:spPr>
        <p:txBody>
          <a:bodyPr wrap="square" lIns="0" tIns="0" rIns="0" bIns="0" rtlCol="0" anchor="t"/>
          <a:lstStyle/>
          <a:p>
            <a:pPr marL="0" indent="0" algn="l">
              <a:buNone/>
            </a:pPr>
            <a:r>
              <a:rPr lang="en-US" sz="1600" b="1" dirty="0">
                <a:solidFill>
                  <a:srgbClr val="1C7293"/>
                </a:solidFill>
                <a:latin typeface="Calibri" pitchFamily="34" charset="0"/>
                <a:ea typeface="Calibri" pitchFamily="34" charset="-122"/>
                <a:cs typeface="Calibri" pitchFamily="34" charset="-120"/>
              </a:rPr>
              <a:t>Zone I + II + III</a:t>
            </a:r>
            <a:endParaRPr lang="en-US" sz="1600" dirty="0"/>
          </a:p>
        </p:txBody>
      </p:sp>
      <p:sp>
        <p:nvSpPr>
          <p:cNvPr id="18" name="Text 15"/>
          <p:cNvSpPr txBox="1"/>
          <p:nvPr/>
        </p:nvSpPr>
        <p:spPr>
          <a:xfrm>
            <a:off x="8321040" y="6035040"/>
            <a:ext cx="3154680" cy="274320"/>
          </a:xfrm>
          <a:prstGeom prst="rect">
            <a:avLst/>
          </a:prstGeom>
          <a:noFill/>
          <a:ln/>
        </p:spPr>
        <p:txBody>
          <a:bodyPr wrap="square" lIns="0" tIns="0" rIns="0" bIns="0" rtlCol="0" anchor="t"/>
          <a:lstStyle/>
          <a:p>
            <a:pPr marL="0" indent="0" algn="l">
              <a:buNone/>
            </a:pPr>
            <a:r>
              <a:rPr lang="en-US" sz="1300" dirty="0">
                <a:solidFill>
                  <a:srgbClr val="1B2B34"/>
                </a:solidFill>
                <a:latin typeface="Calibri" pitchFamily="34" charset="0"/>
                <a:ea typeface="Calibri" pitchFamily="34" charset="-122"/>
                <a:cs typeface="Calibri" pitchFamily="34" charset="-120"/>
              </a:rPr>
              <a:t>(100×40 + 200×30 + 300×20) ÷ 600 = 26.7</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D98E04"/>
          </a:solidFill>
          <a:ln w="12700">
            <a:solidFill>
              <a:srgbClr val="D98E04"/>
            </a:solidFill>
            <a:prstDash val="solid"/>
          </a:ln>
        </p:spPr>
        <p:txBody>
          <a:bodyPr/>
          <a:lstStyle/>
          <a:p>
            <a:endParaRPr lang="en-US"/>
          </a:p>
        </p:txBody>
      </p:sp>
      <p:sp>
        <p:nvSpPr>
          <p:cNvPr id="3" name="Text 1"/>
          <p:cNvSpPr txBox="1"/>
          <p:nvPr/>
        </p:nvSpPr>
        <p:spPr>
          <a:xfrm>
            <a:off x="548640" y="365760"/>
            <a:ext cx="3657600" cy="365760"/>
          </a:xfrm>
          <a:prstGeom prst="rect">
            <a:avLst/>
          </a:prstGeom>
          <a:noFill/>
          <a:ln/>
        </p:spPr>
        <p:txBody>
          <a:bodyPr wrap="square" lIns="0" tIns="0" rIns="0" bIns="0" rtlCol="0" anchor="t"/>
          <a:lstStyle/>
          <a:p>
            <a:pPr marL="0" indent="0" algn="l">
              <a:buNone/>
            </a:pPr>
            <a:r>
              <a:rPr lang="en-US" sz="1600" b="1" dirty="0">
                <a:solidFill>
                  <a:srgbClr val="D98E04"/>
                </a:solidFill>
                <a:latin typeface="Calibri" pitchFamily="34" charset="0"/>
                <a:ea typeface="Calibri" pitchFamily="34" charset="-122"/>
                <a:cs typeface="Calibri" pitchFamily="34" charset="-120"/>
              </a:rPr>
              <a:t>STEP 2</a:t>
            </a:r>
            <a:endParaRPr lang="en-US" sz="1600" dirty="0"/>
          </a:p>
        </p:txBody>
      </p:sp>
      <p:sp>
        <p:nvSpPr>
          <p:cNvPr id="4" name="Text 2"/>
          <p:cNvSpPr txBox="1"/>
          <p:nvPr/>
        </p:nvSpPr>
        <p:spPr>
          <a:xfrm>
            <a:off x="548640" y="731520"/>
            <a:ext cx="11155680" cy="685800"/>
          </a:xfrm>
          <a:prstGeom prst="rect">
            <a:avLst/>
          </a:prstGeom>
          <a:noFill/>
          <a:ln/>
        </p:spPr>
        <p:txBody>
          <a:bodyPr wrap="square" lIns="0" tIns="0" rIns="0" bIns="0" rtlCol="0" anchor="t"/>
          <a:lstStyle/>
          <a:p>
            <a:pPr marL="0" indent="0" algn="l">
              <a:buNone/>
            </a:pPr>
            <a:r>
              <a:rPr lang="en-US" sz="3400" b="1" dirty="0">
                <a:solidFill>
                  <a:srgbClr val="1B2A4A"/>
                </a:solidFill>
                <a:latin typeface="Cambria" pitchFamily="34" charset="0"/>
                <a:ea typeface="Cambria" pitchFamily="34" charset="-122"/>
                <a:cs typeface="Cambria" pitchFamily="34" charset="-120"/>
              </a:rPr>
              <a:t>Slide a Window, Keep the Biggest</a:t>
            </a:r>
            <a:endParaRPr lang="en-US" sz="3400" dirty="0"/>
          </a:p>
        </p:txBody>
      </p:sp>
      <p:sp>
        <p:nvSpPr>
          <p:cNvPr id="5" name="Text 3"/>
          <p:cNvSpPr txBox="1"/>
          <p:nvPr/>
        </p:nvSpPr>
        <p:spPr>
          <a:xfrm>
            <a:off x="548640" y="1417320"/>
            <a:ext cx="10972800" cy="365760"/>
          </a:xfrm>
          <a:prstGeom prst="rect">
            <a:avLst/>
          </a:prstGeom>
          <a:noFill/>
          <a:ln/>
        </p:spPr>
        <p:txBody>
          <a:bodyPr wrap="square" lIns="0" tIns="0" rIns="0" bIns="0" rtlCol="0" anchor="t"/>
          <a:lstStyle/>
          <a:p>
            <a:pPr marL="0" indent="0" algn="l">
              <a:buNone/>
            </a:pPr>
            <a:r>
              <a:rPr lang="en-US" sz="1600" dirty="0">
                <a:solidFill>
                  <a:srgbClr val="51697A"/>
                </a:solidFill>
                <a:latin typeface="Calibri" pitchFamily="34" charset="0"/>
                <a:ea typeface="Calibri" pitchFamily="34" charset="-122"/>
                <a:cs typeface="Calibri" pitchFamily="34" charset="-120"/>
              </a:rPr>
              <a:t>시간 창을 이동하며 가장 큰 강우량을 찾는다</a:t>
            </a:r>
            <a:endParaRPr lang="en-US" sz="1600" dirty="0"/>
          </a:p>
        </p:txBody>
      </p:sp>
      <p:pic>
        <p:nvPicPr>
          <p:cNvPr id="6" name="Image 0" descr="g3.png"/>
          <p:cNvPicPr>
            <a:picLocks noChangeAspect="1"/>
          </p:cNvPicPr>
          <p:nvPr/>
        </p:nvPicPr>
        <p:blipFill>
          <a:blip r:embed="rId3"/>
          <a:stretch>
            <a:fillRect/>
          </a:stretch>
        </p:blipFill>
        <p:spPr>
          <a:xfrm>
            <a:off x="548640" y="1783080"/>
            <a:ext cx="11064240" cy="4056888"/>
          </a:xfrm>
          <a:prstGeom prst="rect">
            <a:avLst/>
          </a:prstGeom>
        </p:spPr>
      </p:pic>
      <p:sp>
        <p:nvSpPr>
          <p:cNvPr id="7" name="Shape 4"/>
          <p:cNvSpPr/>
          <p:nvPr/>
        </p:nvSpPr>
        <p:spPr>
          <a:xfrm>
            <a:off x="548640" y="5532120"/>
            <a:ext cx="11064240" cy="822960"/>
          </a:xfrm>
          <a:prstGeom prst="rect">
            <a:avLst/>
          </a:prstGeom>
          <a:solidFill>
            <a:srgbClr val="EEF3F6"/>
          </a:solidFill>
          <a:ln w="12700">
            <a:solidFill>
              <a:srgbClr val="EEF3F6"/>
            </a:solidFill>
            <a:prstDash val="solid"/>
          </a:ln>
        </p:spPr>
        <p:txBody>
          <a:bodyPr/>
          <a:lstStyle/>
          <a:p>
            <a:endParaRPr lang="en-US"/>
          </a:p>
        </p:txBody>
      </p:sp>
      <p:sp>
        <p:nvSpPr>
          <p:cNvPr id="8" name="Shape 5"/>
          <p:cNvSpPr/>
          <p:nvPr/>
        </p:nvSpPr>
        <p:spPr>
          <a:xfrm>
            <a:off x="548640" y="5532120"/>
            <a:ext cx="91440" cy="822960"/>
          </a:xfrm>
          <a:prstGeom prst="rect">
            <a:avLst/>
          </a:prstGeom>
          <a:solidFill>
            <a:srgbClr val="D98E04"/>
          </a:solidFill>
          <a:ln w="12700">
            <a:solidFill>
              <a:srgbClr val="D98E04"/>
            </a:solidFill>
            <a:prstDash val="solid"/>
          </a:ln>
        </p:spPr>
        <p:txBody>
          <a:bodyPr/>
          <a:lstStyle/>
          <a:p>
            <a:endParaRPr lang="en-US"/>
          </a:p>
        </p:txBody>
      </p:sp>
      <p:sp>
        <p:nvSpPr>
          <p:cNvPr id="9" name="Text 6"/>
          <p:cNvSpPr txBox="1"/>
          <p:nvPr/>
        </p:nvSpPr>
        <p:spPr>
          <a:xfrm>
            <a:off x="822960" y="5641848"/>
            <a:ext cx="10607040" cy="365760"/>
          </a:xfrm>
          <a:prstGeom prst="rect">
            <a:avLst/>
          </a:prstGeom>
          <a:noFill/>
          <a:ln/>
        </p:spPr>
        <p:txBody>
          <a:bodyPr wrap="square" lIns="0" tIns="0" rIns="0" bIns="0" rtlCol="0" anchor="t"/>
          <a:lstStyle/>
          <a:p>
            <a:pPr marL="0" indent="0" algn="l">
              <a:buNone/>
            </a:pPr>
            <a:r>
              <a:rPr lang="en-US" sz="1600" b="1" dirty="0">
                <a:solidFill>
                  <a:srgbClr val="D98E04"/>
                </a:solidFill>
                <a:latin typeface="Calibri" pitchFamily="34" charset="0"/>
                <a:ea typeface="Calibri" pitchFamily="34" charset="-122"/>
                <a:cs typeface="Calibri" pitchFamily="34" charset="-120"/>
              </a:rPr>
              <a:t>Rule</a:t>
            </a:r>
            <a:endParaRPr lang="en-US" sz="1600" dirty="0"/>
          </a:p>
        </p:txBody>
      </p:sp>
      <p:sp>
        <p:nvSpPr>
          <p:cNvPr id="10" name="Text 7"/>
          <p:cNvSpPr txBox="1"/>
          <p:nvPr/>
        </p:nvSpPr>
        <p:spPr>
          <a:xfrm>
            <a:off x="822960" y="6035040"/>
            <a:ext cx="10607040" cy="274320"/>
          </a:xfrm>
          <a:prstGeom prst="rect">
            <a:avLst/>
          </a:prstGeom>
          <a:noFill/>
          <a:ln/>
        </p:spPr>
        <p:txBody>
          <a:bodyPr wrap="square" lIns="0" tIns="0" rIns="0" bIns="0" rtlCol="0" anchor="t"/>
          <a:lstStyle/>
          <a:p>
            <a:pPr marL="0" indent="0" algn="l">
              <a:buNone/>
            </a:pPr>
            <a:r>
              <a:rPr lang="en-US" sz="1700" dirty="0">
                <a:solidFill>
                  <a:srgbClr val="1B2B34"/>
                </a:solidFill>
                <a:latin typeface="Calibri" pitchFamily="34" charset="0"/>
                <a:ea typeface="Calibri" pitchFamily="34" charset="-122"/>
                <a:cs typeface="Calibri" pitchFamily="34" charset="-120"/>
              </a:rPr>
              <a:t>Rain in a window = (rain at end) − (rain at start).   Try every start time, keep the biggest.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D98E04"/>
          </a:solidFill>
          <a:ln w="12700">
            <a:solidFill>
              <a:srgbClr val="D98E04"/>
            </a:solidFill>
            <a:prstDash val="solid"/>
          </a:ln>
        </p:spPr>
        <p:txBody>
          <a:bodyPr/>
          <a:lstStyle/>
          <a:p>
            <a:endParaRPr lang="en-US"/>
          </a:p>
        </p:txBody>
      </p:sp>
      <p:sp>
        <p:nvSpPr>
          <p:cNvPr id="3" name="Text 1"/>
          <p:cNvSpPr txBox="1"/>
          <p:nvPr/>
        </p:nvSpPr>
        <p:spPr>
          <a:xfrm>
            <a:off x="548640" y="365760"/>
            <a:ext cx="3657600" cy="365760"/>
          </a:xfrm>
          <a:prstGeom prst="rect">
            <a:avLst/>
          </a:prstGeom>
          <a:noFill/>
          <a:ln/>
        </p:spPr>
        <p:txBody>
          <a:bodyPr wrap="square" lIns="0" tIns="0" rIns="0" bIns="0" rtlCol="0" anchor="t"/>
          <a:lstStyle/>
          <a:p>
            <a:pPr marL="0" indent="0" algn="l">
              <a:buNone/>
            </a:pPr>
            <a:r>
              <a:rPr lang="en-US" sz="1600" b="1" dirty="0">
                <a:solidFill>
                  <a:srgbClr val="D98E04"/>
                </a:solidFill>
                <a:latin typeface="Calibri" pitchFamily="34" charset="0"/>
                <a:ea typeface="Calibri" pitchFamily="34" charset="-122"/>
                <a:cs typeface="Calibri" pitchFamily="34" charset="-120"/>
              </a:rPr>
              <a:t>STEP 3</a:t>
            </a:r>
            <a:endParaRPr lang="en-US" sz="1600" dirty="0"/>
          </a:p>
        </p:txBody>
      </p:sp>
      <p:sp>
        <p:nvSpPr>
          <p:cNvPr id="4" name="Text 2"/>
          <p:cNvSpPr txBox="1"/>
          <p:nvPr/>
        </p:nvSpPr>
        <p:spPr>
          <a:xfrm>
            <a:off x="548640" y="731520"/>
            <a:ext cx="11155680" cy="685800"/>
          </a:xfrm>
          <a:prstGeom prst="rect">
            <a:avLst/>
          </a:prstGeom>
          <a:noFill/>
          <a:ln/>
        </p:spPr>
        <p:txBody>
          <a:bodyPr wrap="square" lIns="0" tIns="0" rIns="0" bIns="0" rtlCol="0" anchor="t"/>
          <a:lstStyle/>
          <a:p>
            <a:pPr marL="0" indent="0" algn="l">
              <a:buNone/>
            </a:pPr>
            <a:r>
              <a:rPr lang="en-US" sz="3400" b="1" dirty="0">
                <a:solidFill>
                  <a:srgbClr val="1B2A4A"/>
                </a:solidFill>
                <a:latin typeface="Cambria" pitchFamily="34" charset="0"/>
                <a:ea typeface="Cambria" pitchFamily="34" charset="-122"/>
                <a:cs typeface="Cambria" pitchFamily="34" charset="-120"/>
              </a:rPr>
              <a:t>The Result: DAD Table and Curves</a:t>
            </a:r>
            <a:endParaRPr lang="en-US" sz="3400" dirty="0"/>
          </a:p>
        </p:txBody>
      </p:sp>
      <p:sp>
        <p:nvSpPr>
          <p:cNvPr id="5" name="Text 3"/>
          <p:cNvSpPr txBox="1"/>
          <p:nvPr/>
        </p:nvSpPr>
        <p:spPr>
          <a:xfrm>
            <a:off x="548640" y="1417320"/>
            <a:ext cx="10972800" cy="365760"/>
          </a:xfrm>
          <a:prstGeom prst="rect">
            <a:avLst/>
          </a:prstGeom>
          <a:noFill/>
          <a:ln/>
        </p:spPr>
        <p:txBody>
          <a:bodyPr wrap="square" lIns="0" tIns="0" rIns="0" bIns="0" rtlCol="0" anchor="t"/>
          <a:lstStyle/>
          <a:p>
            <a:pPr marL="0" indent="0" algn="l">
              <a:buNone/>
            </a:pPr>
            <a:r>
              <a:rPr lang="en-US" sz="1600" dirty="0">
                <a:solidFill>
                  <a:srgbClr val="51697A"/>
                </a:solidFill>
                <a:latin typeface="Calibri" pitchFamily="34" charset="0"/>
                <a:ea typeface="Calibri" pitchFamily="34" charset="-122"/>
                <a:cs typeface="Calibri" pitchFamily="34" charset="-120"/>
              </a:rPr>
              <a:t>결과: DAD 표와 DAD 곡선</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5486400" cy="260604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68580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Duration</a:t>
                      </a:r>
                      <a:endParaRPr lang="en-US" sz="14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100 km²</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300 km²</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(I+II)</a:t>
                      </a:r>
                      <a:endParaRPr lang="en-US" sz="14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1B2A4A"/>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600 km²</a:t>
                      </a:r>
                      <a:endParaRPr lang="en-US" sz="1400" dirty="0">
                        <a:latin typeface="Calibri" charset="0"/>
                        <a:ea typeface="Calibri" charset="0"/>
                        <a:cs typeface="Calibri" charset="0"/>
                      </a:endParaRPr>
                    </a:p>
                    <a:p>
                      <a:pPr marL="0" indent="0" algn="ctr">
                        <a:buNone/>
                      </a:pPr>
                      <a:r>
                        <a:rPr lang="en-US" sz="1400" b="1" dirty="0">
                          <a:solidFill>
                            <a:srgbClr val="FFFFFF"/>
                          </a:solidFill>
                          <a:latin typeface="Calibri" pitchFamily="34" charset="0"/>
                          <a:ea typeface="Calibri" pitchFamily="34" charset="-122"/>
                          <a:cs typeface="Calibri" pitchFamily="34" charset="-120"/>
                        </a:rPr>
                        <a:t>(all)</a:t>
                      </a:r>
                      <a:endParaRPr lang="en-US" sz="14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ctr">
                        <a:buNone/>
                      </a:pPr>
                      <a:r>
                        <a:rPr lang="en-US" sz="2000" b="1" dirty="0">
                          <a:solidFill>
                            <a:srgbClr val="1B2B34"/>
                          </a:solidFill>
                          <a:latin typeface="Calibri" pitchFamily="34" charset="0"/>
                          <a:ea typeface="Calibri" pitchFamily="34" charset="-122"/>
                          <a:cs typeface="Calibri" pitchFamily="34" charset="-120"/>
                        </a:rPr>
                        <a:t>2 h</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2000" dirty="0">
                          <a:solidFill>
                            <a:srgbClr val="1B2B34"/>
                          </a:solidFill>
                          <a:latin typeface="Calibri" pitchFamily="34" charset="0"/>
                          <a:ea typeface="Calibri" pitchFamily="34" charset="-122"/>
                          <a:cs typeface="Calibri" pitchFamily="34" charset="-120"/>
                        </a:rPr>
                        <a:t>25.0</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B2B34"/>
                          </a:solidFill>
                          <a:latin typeface="Calibri" pitchFamily="34" charset="0"/>
                          <a:ea typeface="Calibri" pitchFamily="34" charset="-122"/>
                          <a:cs typeface="Calibri" pitchFamily="34" charset="-120"/>
                        </a:rPr>
                        <a:t>20.3</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B2B34"/>
                          </a:solidFill>
                          <a:latin typeface="Calibri" pitchFamily="34" charset="0"/>
                          <a:ea typeface="Calibri" pitchFamily="34" charset="-122"/>
                          <a:cs typeface="Calibri" pitchFamily="34" charset="-120"/>
                        </a:rPr>
                        <a:t>15.7</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2000" b="1" dirty="0">
                          <a:solidFill>
                            <a:srgbClr val="1B2B34"/>
                          </a:solidFill>
                          <a:latin typeface="Calibri" pitchFamily="34" charset="0"/>
                          <a:ea typeface="Calibri" pitchFamily="34" charset="-122"/>
                          <a:cs typeface="Calibri" pitchFamily="34" charset="-120"/>
                        </a:rPr>
                        <a:t>4 h</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2000" dirty="0">
                          <a:solidFill>
                            <a:srgbClr val="1B2B34"/>
                          </a:solidFill>
                          <a:latin typeface="Calibri" pitchFamily="34" charset="0"/>
                          <a:ea typeface="Calibri" pitchFamily="34" charset="-122"/>
                          <a:cs typeface="Calibri" pitchFamily="34" charset="-120"/>
                        </a:rPr>
                        <a:t>36.0</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B2B34"/>
                          </a:solidFill>
                          <a:latin typeface="Calibri" pitchFamily="34" charset="0"/>
                          <a:ea typeface="Calibri" pitchFamily="34" charset="-122"/>
                          <a:cs typeface="Calibri" pitchFamily="34" charset="-120"/>
                        </a:rPr>
                        <a:t>30.0</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5C97A"/>
                    </a:solidFill>
                  </a:tcPr>
                </a:tc>
                <a:tc>
                  <a:txBody>
                    <a:bodyPr/>
                    <a:lstStyle/>
                    <a:p>
                      <a:pPr marL="0" indent="0" algn="ctr">
                        <a:buNone/>
                      </a:pPr>
                      <a:r>
                        <a:rPr lang="en-US" sz="2000" dirty="0">
                          <a:solidFill>
                            <a:srgbClr val="1B2B34"/>
                          </a:solidFill>
                          <a:latin typeface="Calibri" pitchFamily="34" charset="0"/>
                          <a:ea typeface="Calibri" pitchFamily="34" charset="-122"/>
                          <a:cs typeface="Calibri" pitchFamily="34" charset="-120"/>
                        </a:rPr>
                        <a:t>23.5</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ctr">
                        <a:buNone/>
                      </a:pPr>
                      <a:r>
                        <a:rPr lang="en-US" sz="2000" b="1" dirty="0">
                          <a:solidFill>
                            <a:srgbClr val="1B2B34"/>
                          </a:solidFill>
                          <a:latin typeface="Calibri" pitchFamily="34" charset="0"/>
                          <a:ea typeface="Calibri" pitchFamily="34" charset="-122"/>
                          <a:cs typeface="Calibri" pitchFamily="34" charset="-120"/>
                        </a:rPr>
                        <a:t>6 h</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EEF3F6"/>
                    </a:solidFill>
                  </a:tcPr>
                </a:tc>
                <a:tc>
                  <a:txBody>
                    <a:bodyPr/>
                    <a:lstStyle/>
                    <a:p>
                      <a:pPr marL="0" indent="0" algn="ctr">
                        <a:buNone/>
                      </a:pPr>
                      <a:r>
                        <a:rPr lang="en-US" sz="2000" dirty="0">
                          <a:solidFill>
                            <a:srgbClr val="1B2B34"/>
                          </a:solidFill>
                          <a:latin typeface="Calibri" pitchFamily="34" charset="0"/>
                          <a:ea typeface="Calibri" pitchFamily="34" charset="-122"/>
                          <a:cs typeface="Calibri" pitchFamily="34" charset="-120"/>
                        </a:rPr>
                        <a:t>40.0</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B2B34"/>
                          </a:solidFill>
                          <a:latin typeface="Calibri" pitchFamily="34" charset="0"/>
                          <a:ea typeface="Calibri" pitchFamily="34" charset="-122"/>
                          <a:cs typeface="Calibri" pitchFamily="34" charset="-120"/>
                        </a:rPr>
                        <a:t>33.3</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B2B34"/>
                          </a:solidFill>
                          <a:latin typeface="Calibri" pitchFamily="34" charset="0"/>
                          <a:ea typeface="Calibri" pitchFamily="34" charset="-122"/>
                          <a:cs typeface="Calibri" pitchFamily="34" charset="-120"/>
                        </a:rPr>
                        <a:t>26.7</a:t>
                      </a:r>
                      <a:endParaRPr lang="en-US" sz="2000" dirty="0">
                        <a:latin typeface="Calibri" charset="0"/>
                        <a:ea typeface="Calibri" charset="0"/>
                        <a:cs typeface="Calibri" charset="0"/>
                      </a:endParaRPr>
                    </a:p>
                  </a:txBody>
                  <a:tcPr anchor="ctr">
                    <a:lnL w="12700" cap="flat" cmpd="sng" algn="ctr">
                      <a:solidFill>
                        <a:srgbClr val="CFE0EA"/>
                      </a:solidFill>
                      <a:prstDash val="solid"/>
                      <a:round/>
                      <a:headEnd type="none" w="med" len="med"/>
                      <a:tailEnd type="none" w="med" len="med"/>
                    </a:lnL>
                    <a:lnR w="12700" cap="flat" cmpd="sng" algn="ctr">
                      <a:solidFill>
                        <a:srgbClr val="CFE0EA"/>
                      </a:solidFill>
                      <a:prstDash val="solid"/>
                      <a:round/>
                      <a:headEnd type="none" w="med" len="med"/>
                      <a:tailEnd type="none" w="med" len="med"/>
                    </a:lnR>
                    <a:lnT w="12700" cap="flat" cmpd="sng" algn="ctr">
                      <a:solidFill>
                        <a:srgbClr val="CFE0EA"/>
                      </a:solidFill>
                      <a:prstDash val="solid"/>
                      <a:round/>
                      <a:headEnd type="none" w="med" len="med"/>
                      <a:tailEnd type="none" w="med" len="med"/>
                    </a:lnT>
                    <a:lnB w="12700" cap="flat" cmpd="sng" algn="ctr">
                      <a:solidFill>
                        <a:srgbClr val="CF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548640" y="4617720"/>
            <a:ext cx="5486400" cy="274320"/>
          </a:xfrm>
          <a:prstGeom prst="rect">
            <a:avLst/>
          </a:prstGeom>
          <a:noFill/>
          <a:ln/>
        </p:spPr>
        <p:txBody>
          <a:bodyPr wrap="square" lIns="0" tIns="0" rIns="0" bIns="0" rtlCol="0" anchor="t"/>
          <a:lstStyle/>
          <a:p>
            <a:pPr marL="0" indent="0" algn="l">
              <a:buNone/>
            </a:pPr>
            <a:r>
              <a:rPr lang="en-US" sz="1200" i="1" dirty="0">
                <a:solidFill>
                  <a:srgbClr val="51697A"/>
                </a:solidFill>
                <a:latin typeface="Calibri" pitchFamily="34" charset="0"/>
                <a:ea typeface="Calibri" pitchFamily="34" charset="-122"/>
                <a:cs typeface="Calibri" pitchFamily="34" charset="-120"/>
              </a:rPr>
              <a:t>Depth in mm</a:t>
            </a:r>
            <a:endParaRPr lang="en-US" sz="1200" dirty="0"/>
          </a:p>
        </p:txBody>
      </p:sp>
      <p:sp>
        <p:nvSpPr>
          <p:cNvPr id="8" name="Shape 5"/>
          <p:cNvSpPr/>
          <p:nvPr/>
        </p:nvSpPr>
        <p:spPr>
          <a:xfrm>
            <a:off x="548640" y="4937760"/>
            <a:ext cx="5486400" cy="548640"/>
          </a:xfrm>
          <a:prstGeom prst="rect">
            <a:avLst/>
          </a:prstGeom>
          <a:solidFill>
            <a:srgbClr val="EEF3F6"/>
          </a:solidFill>
          <a:ln w="12700">
            <a:solidFill>
              <a:srgbClr val="EEF3F6"/>
            </a:solidFill>
            <a:prstDash val="solid"/>
          </a:ln>
        </p:spPr>
        <p:txBody>
          <a:bodyPr/>
          <a:lstStyle/>
          <a:p>
            <a:endParaRPr lang="en-US"/>
          </a:p>
        </p:txBody>
      </p:sp>
      <p:sp>
        <p:nvSpPr>
          <p:cNvPr id="9" name="Shape 6"/>
          <p:cNvSpPr/>
          <p:nvPr/>
        </p:nvSpPr>
        <p:spPr>
          <a:xfrm>
            <a:off x="548640" y="4937760"/>
            <a:ext cx="91440" cy="548640"/>
          </a:xfrm>
          <a:prstGeom prst="rect">
            <a:avLst/>
          </a:prstGeom>
          <a:solidFill>
            <a:srgbClr val="D98E04"/>
          </a:solidFill>
          <a:ln w="12700">
            <a:solidFill>
              <a:srgbClr val="D98E04"/>
            </a:solidFill>
            <a:prstDash val="solid"/>
          </a:ln>
        </p:spPr>
        <p:txBody>
          <a:bodyPr/>
          <a:lstStyle/>
          <a:p>
            <a:endParaRPr lang="en-US"/>
          </a:p>
        </p:txBody>
      </p:sp>
      <p:sp>
        <p:nvSpPr>
          <p:cNvPr id="10" name="Text 7"/>
          <p:cNvSpPr txBox="1"/>
          <p:nvPr/>
        </p:nvSpPr>
        <p:spPr>
          <a:xfrm>
            <a:off x="731520" y="4937760"/>
            <a:ext cx="457200" cy="548640"/>
          </a:xfrm>
          <a:prstGeom prst="rect">
            <a:avLst/>
          </a:prstGeom>
          <a:noFill/>
          <a:ln/>
        </p:spPr>
        <p:txBody>
          <a:bodyPr wrap="square" lIns="0" tIns="0" rIns="0" bIns="0" rtlCol="0" anchor="ctr"/>
          <a:lstStyle/>
          <a:p>
            <a:pPr marL="0" indent="0" algn="l">
              <a:buNone/>
            </a:pPr>
            <a:r>
              <a:rPr lang="en-US" sz="2200" b="1" dirty="0">
                <a:solidFill>
                  <a:srgbClr val="D98E04"/>
                </a:solidFill>
                <a:latin typeface="Calibri" pitchFamily="34" charset="0"/>
                <a:ea typeface="Calibri" pitchFamily="34" charset="-122"/>
                <a:cs typeface="Calibri" pitchFamily="34" charset="-120"/>
              </a:rPr>
              <a:t>→</a:t>
            </a:r>
            <a:endParaRPr lang="en-US" sz="2200" dirty="0"/>
          </a:p>
        </p:txBody>
      </p:sp>
      <p:sp>
        <p:nvSpPr>
          <p:cNvPr id="11" name="Text 8"/>
          <p:cNvSpPr txBox="1"/>
          <p:nvPr/>
        </p:nvSpPr>
        <p:spPr>
          <a:xfrm>
            <a:off x="1234440" y="4937760"/>
            <a:ext cx="4754880" cy="548640"/>
          </a:xfrm>
          <a:prstGeom prst="rect">
            <a:avLst/>
          </a:prstGeom>
          <a:noFill/>
          <a:ln/>
        </p:spPr>
        <p:txBody>
          <a:bodyPr wrap="square" lIns="0" tIns="0" rIns="0" bIns="0" rtlCol="0" anchor="ctr"/>
          <a:lstStyle/>
          <a:p>
            <a:pPr marL="0" indent="0" algn="l">
              <a:buNone/>
            </a:pPr>
            <a:r>
              <a:rPr lang="en-US" sz="1500" dirty="0">
                <a:solidFill>
                  <a:srgbClr val="1B2B34"/>
                </a:solidFill>
                <a:latin typeface="Calibri" pitchFamily="34" charset="0"/>
                <a:ea typeface="Calibri" pitchFamily="34" charset="-122"/>
                <a:cs typeface="Calibri" pitchFamily="34" charset="-120"/>
              </a:rPr>
              <a:t>Go right (bigger area): numbers get smaller</a:t>
            </a:r>
            <a:endParaRPr lang="en-US" sz="1500" dirty="0"/>
          </a:p>
        </p:txBody>
      </p:sp>
      <p:sp>
        <p:nvSpPr>
          <p:cNvPr id="12" name="Shape 9"/>
          <p:cNvSpPr/>
          <p:nvPr/>
        </p:nvSpPr>
        <p:spPr>
          <a:xfrm>
            <a:off x="548640" y="5577840"/>
            <a:ext cx="5486400" cy="548640"/>
          </a:xfrm>
          <a:prstGeom prst="rect">
            <a:avLst/>
          </a:prstGeom>
          <a:solidFill>
            <a:srgbClr val="EEF3F6"/>
          </a:solidFill>
          <a:ln w="12700">
            <a:solidFill>
              <a:srgbClr val="EEF3F6"/>
            </a:solidFill>
            <a:prstDash val="solid"/>
          </a:ln>
        </p:spPr>
        <p:txBody>
          <a:bodyPr/>
          <a:lstStyle/>
          <a:p>
            <a:endParaRPr lang="en-US"/>
          </a:p>
        </p:txBody>
      </p:sp>
      <p:sp>
        <p:nvSpPr>
          <p:cNvPr id="13" name="Shape 10"/>
          <p:cNvSpPr/>
          <p:nvPr/>
        </p:nvSpPr>
        <p:spPr>
          <a:xfrm>
            <a:off x="548640" y="5577840"/>
            <a:ext cx="91440" cy="548640"/>
          </a:xfrm>
          <a:prstGeom prst="rect">
            <a:avLst/>
          </a:prstGeom>
          <a:solidFill>
            <a:srgbClr val="D98E04"/>
          </a:solidFill>
          <a:ln w="12700">
            <a:solidFill>
              <a:srgbClr val="D98E04"/>
            </a:solidFill>
            <a:prstDash val="solid"/>
          </a:ln>
        </p:spPr>
        <p:txBody>
          <a:bodyPr/>
          <a:lstStyle/>
          <a:p>
            <a:endParaRPr lang="en-US"/>
          </a:p>
        </p:txBody>
      </p:sp>
      <p:sp>
        <p:nvSpPr>
          <p:cNvPr id="14" name="Text 11"/>
          <p:cNvSpPr txBox="1"/>
          <p:nvPr/>
        </p:nvSpPr>
        <p:spPr>
          <a:xfrm>
            <a:off x="731520" y="5577840"/>
            <a:ext cx="457200" cy="548640"/>
          </a:xfrm>
          <a:prstGeom prst="rect">
            <a:avLst/>
          </a:prstGeom>
          <a:noFill/>
          <a:ln/>
        </p:spPr>
        <p:txBody>
          <a:bodyPr wrap="square" lIns="0" tIns="0" rIns="0" bIns="0" rtlCol="0" anchor="ctr"/>
          <a:lstStyle/>
          <a:p>
            <a:pPr marL="0" indent="0" algn="l">
              <a:buNone/>
            </a:pPr>
            <a:r>
              <a:rPr lang="en-US" sz="2200" b="1" dirty="0">
                <a:solidFill>
                  <a:srgbClr val="D98E04"/>
                </a:solidFill>
                <a:latin typeface="Calibri" pitchFamily="34" charset="0"/>
                <a:ea typeface="Calibri" pitchFamily="34" charset="-122"/>
                <a:cs typeface="Calibri" pitchFamily="34" charset="-120"/>
              </a:rPr>
              <a:t>↓</a:t>
            </a:r>
            <a:endParaRPr lang="en-US" sz="2200" dirty="0"/>
          </a:p>
        </p:txBody>
      </p:sp>
      <p:sp>
        <p:nvSpPr>
          <p:cNvPr id="15" name="Text 12"/>
          <p:cNvSpPr txBox="1"/>
          <p:nvPr/>
        </p:nvSpPr>
        <p:spPr>
          <a:xfrm>
            <a:off x="1234440" y="5577840"/>
            <a:ext cx="4754880" cy="548640"/>
          </a:xfrm>
          <a:prstGeom prst="rect">
            <a:avLst/>
          </a:prstGeom>
          <a:noFill/>
          <a:ln/>
        </p:spPr>
        <p:txBody>
          <a:bodyPr wrap="square" lIns="0" tIns="0" rIns="0" bIns="0" rtlCol="0" anchor="ctr"/>
          <a:lstStyle/>
          <a:p>
            <a:pPr marL="0" indent="0" algn="l">
              <a:buNone/>
            </a:pPr>
            <a:r>
              <a:rPr lang="en-US" sz="1500" dirty="0">
                <a:solidFill>
                  <a:srgbClr val="1B2B34"/>
                </a:solidFill>
                <a:latin typeface="Calibri" pitchFamily="34" charset="0"/>
                <a:ea typeface="Calibri" pitchFamily="34" charset="-122"/>
                <a:cs typeface="Calibri" pitchFamily="34" charset="-120"/>
              </a:rPr>
              <a:t>Go down (longer duration): numbers get bigger</a:t>
            </a:r>
            <a:endParaRPr lang="en-US" sz="1500" dirty="0"/>
          </a:p>
        </p:txBody>
      </p:sp>
      <p:pic>
        <p:nvPicPr>
          <p:cNvPr id="16" name="Image 0" descr="g4.png"/>
          <p:cNvPicPr>
            <a:picLocks noChangeAspect="1"/>
          </p:cNvPicPr>
          <p:nvPr/>
        </p:nvPicPr>
        <p:blipFill>
          <a:blip r:embed="rId3"/>
          <a:stretch>
            <a:fillRect/>
          </a:stretch>
        </p:blipFill>
        <p:spPr>
          <a:xfrm>
            <a:off x="6309360" y="1783080"/>
            <a:ext cx="5394960" cy="452480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583</Words>
  <Application>Microsoft Office PowerPoint</Application>
  <PresentationFormat>Widescreen</PresentationFormat>
  <Paragraphs>102</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MUHAMMAD WAQAS</cp:lastModifiedBy>
  <cp:revision>2</cp:revision>
  <dcterms:created xsi:type="dcterms:W3CDTF">2026-09-30T00:37:34Z</dcterms:created>
  <dcterms:modified xsi:type="dcterms:W3CDTF">2026-09-30T00:47:31Z</dcterms:modified>
</cp:coreProperties>
</file>