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96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626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kern="0" spc="15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HYDROLOGY  ·  LECTURE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37160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Thiessen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Polygon Method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461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티센 다각형법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502920" cy="41148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52765" y="1051560"/>
            <a:ext cx="6360115" cy="475488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assets/bisector.png"/>
          <p:cNvPicPr>
            <a:picLocks noChangeAspect="1"/>
          </p:cNvPicPr>
          <p:nvPr/>
        </p:nvPicPr>
        <p:blipFill>
          <a:blip r:embed="rId3"/>
          <a:srcRect b="11781"/>
          <a:stretch>
            <a:fillRect/>
          </a:stretch>
        </p:blipFill>
        <p:spPr>
          <a:xfrm>
            <a:off x="4796426" y="813696"/>
            <a:ext cx="7174102" cy="429222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239512" y="51663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on the bisector is equally far</a:t>
            </a:r>
            <a:endParaRPr lang="en-US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from both gauges.</a:t>
            </a:r>
            <a:endParaRPr lang="en-US" dirty="0"/>
          </a:p>
        </p:txBody>
      </p:sp>
      <p:sp>
        <p:nvSpPr>
          <p:cNvPr id="12" name="Text 9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21148" y="197295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Gauge Deserves an Equal Vote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21933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관측소가 동일한 투표권을 가지는 것은 아니다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1148" y="1357884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79476" y="13624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03604" y="1409445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slice of the watershed closest to gauge i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33322" y="1731519"/>
            <a:ext cx="5806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관측소 i가 담당하는 유역의 조각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1148" y="2244852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21148" y="22219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03604" y="2244852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watershed area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403604" y="2569464"/>
            <a:ext cx="5806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유역 전체 면적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1148" y="3113532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79476" y="30998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ai/A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03604" y="3143250"/>
            <a:ext cx="52268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gauge's weight — its share of the vote. All shares add up to 1.0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361932" y="3457832"/>
            <a:ext cx="5806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관측소의 가중치(투표권 비율) — 모든 가중치의 합은 항상 1.0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5690" y="3860168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52104" y="38601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61932" y="3925858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rainfall that gauge actually measured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361932" y="4299627"/>
            <a:ext cx="5806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관측소가 실제로 측정한 강수량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Shape 19"/>
              <p:cNvSpPr/>
              <p:nvPr/>
            </p:nvSpPr>
            <p:spPr>
              <a:xfrm>
                <a:off x="1037844" y="5025514"/>
                <a:ext cx="3943199" cy="777240"/>
              </a:xfrm>
              <a:prstGeom prst="roundRect">
                <a:avLst>
                  <a:gd name="adj" fmla="val 11765"/>
                </a:avLst>
              </a:prstGeom>
              <a:solidFill>
                <a:srgbClr val="EEF3F6"/>
              </a:solidFill>
              <a:ln w="12700">
                <a:solidFill>
                  <a:srgbClr val="1C7293"/>
                </a:solidFill>
                <a:prstDash val="solid"/>
              </a:ln>
            </p:spPr>
            <p:txBody>
              <a:bodyPr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200" b="1" i="1" dirty="0">
                            <a:solidFill>
                              <a:srgbClr val="1B2B34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accPr>
                      <m:e>
                        <m:r>
                          <a:rPr lang="en-US" sz="3200" b="1" i="1" dirty="0">
                            <a:solidFill>
                              <a:srgbClr val="1B2B34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𝑹</m:t>
                        </m:r>
                      </m:e>
                    </m:acc>
                    <m:r>
                      <a:rPr lang="en-US" sz="3200" b="1" i="1" dirty="0">
                        <a:solidFill>
                          <a:srgbClr val="1B2B34"/>
                        </a:solidFill>
                        <a:latin typeface="Cambria Math" panose="02040503050406030204" pitchFamily="18" charset="0"/>
                        <a:ea typeface="Cambria" pitchFamily="34" charset="-122"/>
                      </a:rPr>
                      <m:t> </m:t>
                    </m:r>
                  </m:oMath>
                </a14:m>
                <a:r>
                  <a:rPr lang="en-US" sz="3200" b="1" dirty="0">
                    <a:solidFill>
                      <a:srgbClr val="1B2B34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= </a:t>
                </a:r>
                <a:r>
                  <a:rPr lang="en-US" sz="3200" b="1" dirty="0">
                    <a:solidFill>
                      <a:srgbClr val="1F4E79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Σ(Ri × ai)</a:t>
                </a:r>
                <a:r>
                  <a:rPr lang="en-US" sz="3200" b="1" dirty="0">
                    <a:solidFill>
                      <a:srgbClr val="1B2B34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 / </a:t>
                </a:r>
                <a:r>
                  <a:rPr lang="en-US" sz="3200" b="1" dirty="0">
                    <a:solidFill>
                      <a:srgbClr val="1C7293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A</a:t>
                </a:r>
                <a:endParaRPr lang="en-US" dirty="0"/>
              </a:p>
            </p:txBody>
          </p:sp>
        </mc:Choice>
        <mc:Fallback xmlns="">
          <p:sp>
            <p:nvSpPr>
              <p:cNvPr id="21" name="Shap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844" y="5025514"/>
                <a:ext cx="3943199" cy="777240"/>
              </a:xfrm>
              <a:prstGeom prst="roundRect">
                <a:avLst>
                  <a:gd name="adj" fmla="val 11765"/>
                </a:avLst>
              </a:prstGeom>
              <a:blipFill>
                <a:blip r:embed="rId3"/>
                <a:stretch>
                  <a:fillRect t="-6923" b="-1538"/>
                </a:stretch>
              </a:blipFill>
              <a:ln w="12700">
                <a:solidFill>
                  <a:srgbClr val="1C7293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21"/>
          <p:cNvSpPr txBox="1"/>
          <p:nvPr/>
        </p:nvSpPr>
        <p:spPr>
          <a:xfrm>
            <a:off x="564350" y="6153912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Thiessen weighted-mean formula  ·  티센 가중평균 공식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30407" y="900683"/>
            <a:ext cx="5442090" cy="4966219"/>
          </a:xfrm>
          <a:prstGeom prst="roundRect">
            <a:avLst>
              <a:gd name="adj" fmla="val 2299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0" descr="assets/tessellation.png"/>
          <p:cNvPicPr>
            <a:picLocks noChangeAspect="1"/>
          </p:cNvPicPr>
          <p:nvPr/>
        </p:nvPicPr>
        <p:blipFill>
          <a:blip r:embed="rId4"/>
          <a:srcRect b="13368"/>
          <a:stretch>
            <a:fillRect/>
          </a:stretch>
        </p:blipFill>
        <p:spPr>
          <a:xfrm>
            <a:off x="6666621" y="557185"/>
            <a:ext cx="5565736" cy="5050365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6910366" y="5751055"/>
            <a:ext cx="4882171" cy="754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Six gauges, six zones of influence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6개 관측소, 6개의 영향권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· 예제 풀이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Gauges, One Weighted Average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1821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 관측소, 하나의 가중평균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14410"/>
              </p:ext>
            </p:extLst>
          </p:nvPr>
        </p:nvGraphicFramePr>
        <p:xfrm>
          <a:off x="403625" y="2084047"/>
          <a:ext cx="6126480" cy="3182112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Gauge</a:t>
                      </a:r>
                      <a:endParaRPr lang="en-US" sz="1150" dirty="0"/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관측소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Ri (mm)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ai (km²)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ai/A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Ri·ai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0.150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540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0.225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936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0.113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342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G4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3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3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3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0.275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3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1320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3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0.138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451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280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80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1.000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3869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88217" y="525780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G4 has the highest reading AND the largest area — watch how much it pulls the mean.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G4는 가장 높은 관측값과 가장 넓은 면적을 모두 가진다 — 이것이 평균을 얼마나 끌어올리는지 보라.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040880" y="1783080"/>
            <a:ext cx="4617720" cy="1234440"/>
          </a:xfrm>
          <a:prstGeom prst="roundRect">
            <a:avLst>
              <a:gd name="adj" fmla="val 7407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269480" y="190195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  ·  식 적용</a:t>
            </a:r>
            <a:endParaRPr lang="en-US" sz="10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6"/>
              <p:cNvSpPr txBox="1"/>
              <p:nvPr/>
            </p:nvSpPr>
            <p:spPr>
              <a:xfrm>
                <a:off x="7269480" y="2209061"/>
                <a:ext cx="416052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2300" b="1" dirty="0">
                    <a:solidFill>
                      <a:srgbClr val="1F4E79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1" i="1" dirty="0">
                            <a:solidFill>
                              <a:srgbClr val="1B2B34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accPr>
                      <m:e>
                        <m:r>
                          <a:rPr lang="en-US" sz="2400" b="1" i="1" dirty="0">
                            <a:solidFill>
                              <a:srgbClr val="1B2B34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𝑹</m:t>
                        </m:r>
                      </m:e>
                    </m:acc>
                    <m:r>
                      <a:rPr lang="en-US" sz="2400" b="1" i="1" dirty="0">
                        <a:solidFill>
                          <a:srgbClr val="1B2B34"/>
                        </a:solidFill>
                        <a:latin typeface="Cambria Math" panose="02040503050406030204" pitchFamily="18" charset="0"/>
                        <a:ea typeface="Cambria" pitchFamily="34" charset="-122"/>
                      </a:rPr>
                      <m:t> </m:t>
                    </m:r>
                  </m:oMath>
                </a14:m>
                <a:r>
                  <a:rPr lang="en-US" sz="2300" b="1" dirty="0">
                    <a:solidFill>
                      <a:srgbClr val="1F4E79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= 3869 / 80 = 48.4 mm</a:t>
                </a:r>
                <a:endParaRPr lang="en-US" sz="2300" dirty="0"/>
              </a:p>
            </p:txBody>
          </p:sp>
        </mc:Choice>
        <mc:Fallback xmlns="">
          <p:sp>
            <p:nvSpPr>
              <p:cNvPr id="9" name="Tex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480" y="2209061"/>
                <a:ext cx="4160520" cy="685800"/>
              </a:xfrm>
              <a:prstGeom prst="rect">
                <a:avLst/>
              </a:prstGeom>
              <a:blipFill>
                <a:blip r:embed="rId3"/>
                <a:stretch>
                  <a:fillRect l="-1026" b="-88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7"/>
          <p:cNvSpPr/>
          <p:nvPr/>
        </p:nvSpPr>
        <p:spPr>
          <a:xfrm>
            <a:off x="7040880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178040" y="33604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Average method</a:t>
            </a:r>
            <a:endParaRPr lang="en-US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3794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45.2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7178040" y="43708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464040" y="3246120"/>
            <a:ext cx="2194560" cy="1417320"/>
          </a:xfrm>
          <a:prstGeom prst="roundRect">
            <a:avLst>
              <a:gd name="adj" fmla="val 6452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9601200" y="3383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THIESSEN WEIGHTED MEAN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0" y="3794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48.4</a:t>
            </a:r>
            <a:endParaRPr 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0" y="43708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040879" y="4846320"/>
            <a:ext cx="474749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Given: A = Σai = 80 km²   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2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Σ(Ri·ai) = 540+936+342+1320+451+280 = 3869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1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0614" y="112634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· 핵심 정리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17220" y="1376817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Remember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7220" y="2367651"/>
            <a:ext cx="502920" cy="50292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617220" y="236765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03020" y="2312787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= share of area, not headcount.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03020" y="2660259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= 인원수가 아니라 면적의 비율이다.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03020" y="2943723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zone of influence means a bigger say in the average.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" y="3327771"/>
            <a:ext cx="502920" cy="50292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 txBox="1"/>
          <p:nvPr/>
        </p:nvSpPr>
        <p:spPr>
          <a:xfrm>
            <a:off x="617220" y="332777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03020" y="3272907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Σ(ai/A) = 1.000.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03020" y="3620379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매번 Σ(ai/A) = 1.000을 확인하라.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03020" y="3903843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built-in check catches a mismeasured or missing polygon area.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" y="4287891"/>
            <a:ext cx="502920" cy="50292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 txBox="1"/>
          <p:nvPr/>
        </p:nvSpPr>
        <p:spPr>
          <a:xfrm>
            <a:off x="617220" y="428789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03020" y="4233027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reading + a big area = a bigger pull.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03020" y="4580499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관측값도 높고 면적도 넓으면 평균을 더 크게 끌어올린다.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03020" y="4863963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exactly what G4 does in the worked example.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35240" y="4233027"/>
            <a:ext cx="3977640" cy="1436252"/>
          </a:xfrm>
          <a:prstGeom prst="roundRect">
            <a:avLst>
              <a:gd name="adj" fmla="val 2759"/>
            </a:avLst>
          </a:prstGeom>
          <a:solidFill>
            <a:srgbClr val="23375C"/>
          </a:solidFill>
          <a:ln w="15875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945814" y="4539351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kern="0" spc="1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IT YOURSELF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kern="0" spc="1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연습해보기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945814" y="4496038"/>
            <a:ext cx="457200" cy="32004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399</Words>
  <Application>Microsoft Office PowerPoint</Application>
  <PresentationFormat>Widescreen</PresentationFormat>
  <Paragraphs>103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WAQAS</cp:lastModifiedBy>
  <cp:revision>9</cp:revision>
  <dcterms:created xsi:type="dcterms:W3CDTF">2026-09-22T06:24:09Z</dcterms:created>
  <dcterms:modified xsi:type="dcterms:W3CDTF">2026-09-28T01:45:38Z</dcterms:modified>
</cp:coreProperties>
</file>